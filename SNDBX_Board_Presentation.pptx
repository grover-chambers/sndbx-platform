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7207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179671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795158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37433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183152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199212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291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5258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8113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59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997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9802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06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31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0190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190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959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7309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961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0941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0648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716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680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7857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047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846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8489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973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7867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3268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542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3553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2619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852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328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0260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915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3363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992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97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12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537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498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5443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3370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F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86474" name="Shape 0"/>
          <p:cNvSpPr/>
          <p:nvPr/>
        </p:nvSpPr>
        <p:spPr bwMode="auto"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99657397" name="Shape 1"/>
          <p:cNvSpPr/>
          <p:nvPr/>
        </p:nvSpPr>
        <p:spPr bwMode="auto">
          <a:xfrm>
            <a:off x="6858000" y="0"/>
            <a:ext cx="228600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88281794" name="Shape 2"/>
          <p:cNvSpPr/>
          <p:nvPr/>
        </p:nvSpPr>
        <p:spPr bwMode="auto">
          <a:xfrm>
            <a:off x="7772400" y="2011680"/>
            <a:ext cx="1371600" cy="3131820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</p:spPr>
      </p:sp>
      <p:sp>
        <p:nvSpPr>
          <p:cNvPr id="2008124754" name="Text 3"/>
          <p:cNvSpPr/>
          <p:nvPr/>
        </p:nvSpPr>
        <p:spPr bwMode="auto">
          <a:xfrm>
            <a:off x="36576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600">
                <a:solidFill>
                  <a:srgbClr val="02C39A"/>
                </a:solidFill>
              </a:rPr>
              <a:t>SNDBX</a:t>
            </a:r>
            <a:endParaRPr lang="en-US" sz="1100"/>
          </a:p>
        </p:txBody>
      </p:sp>
      <p:sp>
        <p:nvSpPr>
          <p:cNvPr id="2030192338" name="Text 4"/>
          <p:cNvSpPr/>
          <p:nvPr/>
        </p:nvSpPr>
        <p:spPr bwMode="auto">
          <a:xfrm>
            <a:off x="365760" y="100584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Hub</a:t>
            </a:r>
            <a:endParaRPr lang="en-US" sz="4400"/>
          </a:p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Operations Platform</a:t>
            </a:r>
            <a:endParaRPr lang="en-US" sz="4400"/>
          </a:p>
        </p:txBody>
      </p:sp>
      <p:sp>
        <p:nvSpPr>
          <p:cNvPr id="1665670736" name="Text 5"/>
          <p:cNvSpPr/>
          <p:nvPr/>
        </p:nvSpPr>
        <p:spPr bwMode="auto">
          <a:xfrm>
            <a:off x="365760" y="3108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Unified Digital Infrastructure for Workspace,</a:t>
            </a: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Talent &amp; Client Engagement</a:t>
            </a:r>
            <a:endParaRPr lang="en-US" sz="1600"/>
          </a:p>
        </p:txBody>
      </p:sp>
      <p:sp>
        <p:nvSpPr>
          <p:cNvPr id="1143762546" name="Text 6"/>
          <p:cNvSpPr/>
          <p:nvPr/>
        </p:nvSpPr>
        <p:spPr bwMode="auto">
          <a:xfrm>
            <a:off x="36576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Prepared for Board Review  |  April 2026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7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263877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94291313" name="Text 1"/>
          <p:cNvSpPr/>
          <p:nvPr/>
        </p:nvSpPr>
        <p:spPr bwMode="auto"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</a:rPr>
              <a:t>Why We Built This Platform</a:t>
            </a:r>
            <a:endParaRPr lang="en-US" sz="2600"/>
          </a:p>
        </p:txBody>
      </p:sp>
      <p:sp>
        <p:nvSpPr>
          <p:cNvPr id="211407611" name="Shape 2"/>
          <p:cNvSpPr/>
          <p:nvPr/>
        </p:nvSpPr>
        <p:spPr bwMode="auto">
          <a:xfrm>
            <a:off x="365760" y="1097280"/>
            <a:ext cx="5120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24403261" name="Text 3"/>
          <p:cNvSpPr/>
          <p:nvPr/>
        </p:nvSpPr>
        <p:spPr bwMode="auto">
          <a:xfrm>
            <a:off x="54864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28090"/>
                </a:solidFill>
              </a:rPr>
              <a:t>Pain Points</a:t>
            </a:r>
            <a:endParaRPr lang="en-US" sz="1300"/>
          </a:p>
        </p:txBody>
      </p:sp>
      <p:sp>
        <p:nvSpPr>
          <p:cNvPr id="1331153688" name="Text 4"/>
          <p:cNvSpPr/>
          <p:nvPr/>
        </p:nvSpPr>
        <p:spPr bwMode="auto">
          <a:xfrm>
            <a:off x="548640" y="16002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0D1B2A"/>
                </a:solidFill>
              </a:rPr>
              <a:t>Manual coordination via spreadsheets, email &amp; phone calls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0D1B2A"/>
                </a:solidFill>
              </a:rPr>
              <a:t>Double-bookings &amp; scheduling conflicts in physical work spaces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0D1B2A"/>
                </a:solidFill>
              </a:rPr>
              <a:t>Opaque client-company pipelines — zero post-intro visibility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0D1B2A"/>
                </a:solidFill>
              </a:rPr>
              <a:t>No centralized directory or structured client intake process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0D1B2A"/>
                </a:solidFill>
              </a:rPr>
              <a:t>Model breaks beyond 35 companies &amp; 500+ clients</a:t>
            </a:r>
            <a:endParaRPr lang="en-US" sz="1200"/>
          </a:p>
        </p:txBody>
      </p:sp>
      <p:sp>
        <p:nvSpPr>
          <p:cNvPr id="875242905" name="Shape 5"/>
          <p:cNvSpPr/>
          <p:nvPr/>
        </p:nvSpPr>
        <p:spPr bwMode="auto">
          <a:xfrm>
            <a:off x="5852160" y="1097280"/>
            <a:ext cx="29260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13930138" name="Text 6"/>
          <p:cNvSpPr/>
          <p:nvPr/>
        </p:nvSpPr>
        <p:spPr bwMode="auto">
          <a:xfrm>
            <a:off x="5852160" y="1143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</a:rPr>
              <a:t>80%</a:t>
            </a:r>
            <a:endParaRPr lang="en-US" sz="3600"/>
          </a:p>
        </p:txBody>
      </p:sp>
      <p:sp>
        <p:nvSpPr>
          <p:cNvPr id="1324924303" name="Text 7"/>
          <p:cNvSpPr/>
          <p:nvPr/>
        </p:nvSpPr>
        <p:spPr bwMode="auto">
          <a:xfrm>
            <a:off x="58521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Admin time on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manual tracking</a:t>
            </a:r>
            <a:endParaRPr lang="en-US" sz="1000"/>
          </a:p>
        </p:txBody>
      </p:sp>
      <p:sp>
        <p:nvSpPr>
          <p:cNvPr id="675509952" name="Shape 8"/>
          <p:cNvSpPr/>
          <p:nvPr/>
        </p:nvSpPr>
        <p:spPr bwMode="auto">
          <a:xfrm>
            <a:off x="5852160" y="2377440"/>
            <a:ext cx="2926080" cy="10972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96714122" name="Text 9"/>
          <p:cNvSpPr/>
          <p:nvPr/>
        </p:nvSpPr>
        <p:spPr bwMode="auto">
          <a:xfrm>
            <a:off x="585216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</a:rPr>
              <a:t>0%</a:t>
            </a:r>
            <a:endParaRPr lang="en-US" sz="3600"/>
          </a:p>
        </p:txBody>
      </p:sp>
      <p:sp>
        <p:nvSpPr>
          <p:cNvPr id="1140316662" name="Text 10"/>
          <p:cNvSpPr/>
          <p:nvPr/>
        </p:nvSpPr>
        <p:spPr bwMode="auto">
          <a:xfrm>
            <a:off x="585216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Pipeline visibility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post-introduction</a:t>
            </a:r>
            <a:endParaRPr lang="en-US" sz="1000"/>
          </a:p>
        </p:txBody>
      </p:sp>
      <p:sp>
        <p:nvSpPr>
          <p:cNvPr id="802070761" name="Shape 11"/>
          <p:cNvSpPr/>
          <p:nvPr/>
        </p:nvSpPr>
        <p:spPr bwMode="auto">
          <a:xfrm>
            <a:off x="5852160" y="3657600"/>
            <a:ext cx="2926080" cy="1097280"/>
          </a:xfrm>
          <a:prstGeom prst="rect">
            <a:avLst/>
          </a:prstGeom>
          <a:solidFill>
            <a:srgbClr val="1A3158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06998103" name="Text 12"/>
          <p:cNvSpPr/>
          <p:nvPr/>
        </p:nvSpPr>
        <p:spPr bwMode="auto">
          <a:xfrm>
            <a:off x="585216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</a:rPr>
              <a:t>35</a:t>
            </a:r>
            <a:endParaRPr lang="en-US" sz="3600"/>
          </a:p>
        </p:txBody>
      </p:sp>
      <p:sp>
        <p:nvSpPr>
          <p:cNvPr id="1111498225" name="Text 13"/>
          <p:cNvSpPr/>
          <p:nvPr/>
        </p:nvSpPr>
        <p:spPr bwMode="auto">
          <a:xfrm>
            <a:off x="585216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Company cap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with current model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F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22118" name="Text 0"/>
          <p:cNvSpPr/>
          <p:nvPr/>
        </p:nvSpPr>
        <p:spPr bwMode="auto"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One Platform. Four Integrated Modules.</a:t>
            </a:r>
            <a:endParaRPr lang="en-US" sz="2800"/>
          </a:p>
        </p:txBody>
      </p:sp>
      <p:sp>
        <p:nvSpPr>
          <p:cNvPr id="681940245" name="Text 1"/>
          <p:cNvSpPr/>
          <p:nvPr/>
        </p:nvSpPr>
        <p:spPr bwMode="auto"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A896"/>
                </a:solidFill>
              </a:rPr>
              <a:t>Role-based access · Real-time sync · Automated notifications · Full audit trails</a:t>
            </a:r>
            <a:endParaRPr lang="en-US" sz="1200"/>
          </a:p>
        </p:txBody>
      </p:sp>
      <p:sp>
        <p:nvSpPr>
          <p:cNvPr id="829148314" name="Shape 2"/>
          <p:cNvSpPr/>
          <p:nvPr/>
        </p:nvSpPr>
        <p:spPr bwMode="auto">
          <a:xfrm>
            <a:off x="274320" y="1417320"/>
            <a:ext cx="1993392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4885959" name="Text 3"/>
          <p:cNvSpPr/>
          <p:nvPr/>
        </p:nvSpPr>
        <p:spPr bwMode="auto">
          <a:xfrm>
            <a:off x="274320" y="1600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1294326380" name="Text 4"/>
          <p:cNvSpPr/>
          <p:nvPr/>
        </p:nvSpPr>
        <p:spPr bwMode="auto">
          <a:xfrm>
            <a:off x="274320" y="2103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</a:rPr>
              <a:t>Module 1</a:t>
            </a:r>
            <a:endParaRPr lang="en-US" sz="1000"/>
          </a:p>
        </p:txBody>
      </p:sp>
      <p:sp>
        <p:nvSpPr>
          <p:cNvPr id="23333970" name="Text 5"/>
          <p:cNvSpPr/>
          <p:nvPr/>
        </p:nvSpPr>
        <p:spPr bwMode="auto">
          <a:xfrm>
            <a:off x="274320" y="242316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Specialist Company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On-boarding &amp; Management</a:t>
            </a:r>
            <a:endParaRPr lang="en-US" sz="1300"/>
          </a:p>
        </p:txBody>
      </p:sp>
      <p:sp>
        <p:nvSpPr>
          <p:cNvPr id="799500458" name="Shape 6"/>
          <p:cNvSpPr/>
          <p:nvPr/>
        </p:nvSpPr>
        <p:spPr bwMode="auto">
          <a:xfrm>
            <a:off x="2450592" y="1417320"/>
            <a:ext cx="1993392" cy="3291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54555711" name="Text 7"/>
          <p:cNvSpPr/>
          <p:nvPr/>
        </p:nvSpPr>
        <p:spPr bwMode="auto">
          <a:xfrm>
            <a:off x="2450592" y="1600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1973213077" name="Text 8"/>
          <p:cNvSpPr/>
          <p:nvPr/>
        </p:nvSpPr>
        <p:spPr bwMode="auto">
          <a:xfrm>
            <a:off x="2450592" y="2103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</a:rPr>
              <a:t>Module 2</a:t>
            </a:r>
            <a:endParaRPr lang="en-US" sz="1000"/>
          </a:p>
        </p:txBody>
      </p:sp>
      <p:sp>
        <p:nvSpPr>
          <p:cNvPr id="1922223570" name="Text 9"/>
          <p:cNvSpPr/>
          <p:nvPr/>
        </p:nvSpPr>
        <p:spPr bwMode="auto">
          <a:xfrm>
            <a:off x="2450592" y="242316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Client Portal &amp;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Intelligent Matching</a:t>
            </a:r>
            <a:endParaRPr lang="en-US" sz="1300"/>
          </a:p>
        </p:txBody>
      </p:sp>
      <p:sp>
        <p:nvSpPr>
          <p:cNvPr id="1150326201" name="Shape 10"/>
          <p:cNvSpPr/>
          <p:nvPr/>
        </p:nvSpPr>
        <p:spPr bwMode="auto">
          <a:xfrm>
            <a:off x="4626864" y="1417320"/>
            <a:ext cx="1993392" cy="3291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630371" name="Text 11"/>
          <p:cNvSpPr/>
          <p:nvPr/>
        </p:nvSpPr>
        <p:spPr bwMode="auto">
          <a:xfrm>
            <a:off x="4626864" y="1600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1211448538" name="Text 12"/>
          <p:cNvSpPr/>
          <p:nvPr/>
        </p:nvSpPr>
        <p:spPr bwMode="auto">
          <a:xfrm>
            <a:off x="4626864" y="2103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</a:rPr>
              <a:t>Module 3</a:t>
            </a:r>
            <a:endParaRPr lang="en-US" sz="1000"/>
          </a:p>
        </p:txBody>
      </p:sp>
      <p:sp>
        <p:nvSpPr>
          <p:cNvPr id="446378904" name="Text 13"/>
          <p:cNvSpPr/>
          <p:nvPr/>
        </p:nvSpPr>
        <p:spPr bwMode="auto">
          <a:xfrm>
            <a:off x="4626864" y="242316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Workspace Booking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&amp; Scheduling</a:t>
            </a:r>
            <a:endParaRPr lang="en-US" sz="1300"/>
          </a:p>
        </p:txBody>
      </p:sp>
      <p:sp>
        <p:nvSpPr>
          <p:cNvPr id="1659924247" name="Shape 14"/>
          <p:cNvSpPr/>
          <p:nvPr/>
        </p:nvSpPr>
        <p:spPr bwMode="auto">
          <a:xfrm>
            <a:off x="6803136" y="1417320"/>
            <a:ext cx="1993392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5156739" name="Text 15"/>
          <p:cNvSpPr/>
          <p:nvPr/>
        </p:nvSpPr>
        <p:spPr bwMode="auto">
          <a:xfrm>
            <a:off x="6803136" y="1600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✓</a:t>
            </a:r>
            <a:endParaRPr lang="en-US" sz="2200"/>
          </a:p>
        </p:txBody>
      </p:sp>
      <p:sp>
        <p:nvSpPr>
          <p:cNvPr id="1628002439" name="Text 16"/>
          <p:cNvSpPr/>
          <p:nvPr/>
        </p:nvSpPr>
        <p:spPr bwMode="auto">
          <a:xfrm>
            <a:off x="6803136" y="2103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</a:rPr>
              <a:t>Module 4</a:t>
            </a:r>
            <a:endParaRPr lang="en-US" sz="1000"/>
          </a:p>
        </p:txBody>
      </p:sp>
      <p:sp>
        <p:nvSpPr>
          <p:cNvPr id="347872874" name="Text 17"/>
          <p:cNvSpPr/>
          <p:nvPr/>
        </p:nvSpPr>
        <p:spPr bwMode="auto">
          <a:xfrm>
            <a:off x="6803136" y="242316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Admin Dashboard &amp;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Engagement Supervision</a:t>
            </a:r>
            <a:endParaRPr lang="en-US" sz="1300"/>
          </a:p>
        </p:txBody>
      </p:sp>
      <p:sp>
        <p:nvSpPr>
          <p:cNvPr id="910287919" name="Shape 18"/>
          <p:cNvSpPr/>
          <p:nvPr/>
        </p:nvSpPr>
        <p:spPr bwMode="auto">
          <a:xfrm>
            <a:off x="274320" y="3246120"/>
            <a:ext cx="8595360" cy="5486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35326500" name="Text 19"/>
          <p:cNvSpPr/>
          <p:nvPr/>
        </p:nvSpPr>
        <p:spPr bwMode="auto">
          <a:xfrm>
            <a:off x="27432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CBD5E1"/>
                </a:solidFill>
              </a:rPr>
              <a:t>Unified Platform Core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7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267886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</p:spPr>
      </p:sp>
      <p:sp>
        <p:nvSpPr>
          <p:cNvPr id="198519657" name="Text 1"/>
          <p:cNvSpPr/>
          <p:nvPr/>
        </p:nvSpPr>
        <p:spPr bwMode="auto"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</a:rPr>
              <a:t>Built for Scale, Security &amp; Maintainability</a:t>
            </a:r>
            <a:endParaRPr lang="en-US" sz="2400"/>
          </a:p>
        </p:txBody>
      </p:sp>
      <p:sp>
        <p:nvSpPr>
          <p:cNvPr id="1633431132" name="Shape 2"/>
          <p:cNvSpPr/>
          <p:nvPr/>
        </p:nvSpPr>
        <p:spPr bwMode="auto">
          <a:xfrm>
            <a:off x="365760" y="1051560"/>
            <a:ext cx="146304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47958296" name="Text 3"/>
          <p:cNvSpPr/>
          <p:nvPr/>
        </p:nvSpPr>
        <p:spPr bwMode="auto">
          <a:xfrm>
            <a:off x="365760" y="11247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</a:rPr>
              <a:t>Frontend</a:t>
            </a:r>
            <a:endParaRPr lang="en-US" sz="1000"/>
          </a:p>
        </p:txBody>
      </p:sp>
      <p:sp>
        <p:nvSpPr>
          <p:cNvPr id="1922952409" name="Shape 4"/>
          <p:cNvSpPr/>
          <p:nvPr/>
        </p:nvSpPr>
        <p:spPr bwMode="auto">
          <a:xfrm>
            <a:off x="1901952" y="1298448"/>
            <a:ext cx="685800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91335809" name="Shape 5"/>
          <p:cNvSpPr/>
          <p:nvPr/>
        </p:nvSpPr>
        <p:spPr bwMode="auto">
          <a:xfrm>
            <a:off x="1920240" y="1051560"/>
            <a:ext cx="6858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57373967" name="Text 6"/>
          <p:cNvSpPr/>
          <p:nvPr/>
        </p:nvSpPr>
        <p:spPr bwMode="auto">
          <a:xfrm>
            <a:off x="2103120" y="11430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Next.js 14 (App Router) · React · TypeScript</a:t>
            </a:r>
            <a:endParaRPr lang="en-US" sz="1200"/>
          </a:p>
        </p:txBody>
      </p:sp>
      <p:sp>
        <p:nvSpPr>
          <p:cNvPr id="173299180" name="Shape 7"/>
          <p:cNvSpPr/>
          <p:nvPr/>
        </p:nvSpPr>
        <p:spPr bwMode="auto">
          <a:xfrm>
            <a:off x="365760" y="1709928"/>
            <a:ext cx="146304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95775701" name="Text 8"/>
          <p:cNvSpPr/>
          <p:nvPr/>
        </p:nvSpPr>
        <p:spPr bwMode="auto">
          <a:xfrm>
            <a:off x="365760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</a:rPr>
              <a:t>Backend / API</a:t>
            </a:r>
            <a:endParaRPr lang="en-US" sz="1000"/>
          </a:p>
        </p:txBody>
      </p:sp>
      <p:sp>
        <p:nvSpPr>
          <p:cNvPr id="766915895" name="Shape 9"/>
          <p:cNvSpPr/>
          <p:nvPr/>
        </p:nvSpPr>
        <p:spPr bwMode="auto">
          <a:xfrm>
            <a:off x="1901952" y="1956816"/>
            <a:ext cx="6858000" cy="36576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2089307555" name="Shape 10"/>
          <p:cNvSpPr/>
          <p:nvPr/>
        </p:nvSpPr>
        <p:spPr bwMode="auto">
          <a:xfrm>
            <a:off x="1920240" y="1709928"/>
            <a:ext cx="6858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95807437" name="Text 11"/>
          <p:cNvSpPr/>
          <p:nvPr/>
        </p:nvSpPr>
        <p:spPr bwMode="auto">
          <a:xfrm>
            <a:off x="2103120" y="1801367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Serverless Next.js API Routes</a:t>
            </a:r>
            <a:endParaRPr lang="en-US" sz="1200"/>
          </a:p>
        </p:txBody>
      </p:sp>
      <p:sp>
        <p:nvSpPr>
          <p:cNvPr id="196449306" name="Shape 12"/>
          <p:cNvSpPr/>
          <p:nvPr/>
        </p:nvSpPr>
        <p:spPr bwMode="auto">
          <a:xfrm>
            <a:off x="365760" y="2368296"/>
            <a:ext cx="146304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76786544" name="Text 13"/>
          <p:cNvSpPr/>
          <p:nvPr/>
        </p:nvSpPr>
        <p:spPr bwMode="auto">
          <a:xfrm>
            <a:off x="365760" y="2441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</a:rPr>
              <a:t>Database</a:t>
            </a:r>
            <a:endParaRPr lang="en-US" sz="1000"/>
          </a:p>
        </p:txBody>
      </p:sp>
      <p:sp>
        <p:nvSpPr>
          <p:cNvPr id="1810641220" name="Shape 14"/>
          <p:cNvSpPr/>
          <p:nvPr/>
        </p:nvSpPr>
        <p:spPr bwMode="auto">
          <a:xfrm>
            <a:off x="1901952" y="2615184"/>
            <a:ext cx="6858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647415981" name="Shape 15"/>
          <p:cNvSpPr/>
          <p:nvPr/>
        </p:nvSpPr>
        <p:spPr bwMode="auto">
          <a:xfrm>
            <a:off x="1920240" y="2368296"/>
            <a:ext cx="6858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36800136" name="Text 16"/>
          <p:cNvSpPr/>
          <p:nvPr/>
        </p:nvSpPr>
        <p:spPr bwMode="auto">
          <a:xfrm>
            <a:off x="2103120" y="2459735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PostgreSQL · Prisma ORM (type-safe relational)</a:t>
            </a:r>
            <a:endParaRPr lang="en-US" sz="1200"/>
          </a:p>
        </p:txBody>
      </p:sp>
      <p:sp>
        <p:nvSpPr>
          <p:cNvPr id="1519211485" name="Shape 17"/>
          <p:cNvSpPr/>
          <p:nvPr/>
        </p:nvSpPr>
        <p:spPr bwMode="auto">
          <a:xfrm>
            <a:off x="365760" y="3026664"/>
            <a:ext cx="1463040" cy="530352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</p:spPr>
      </p:sp>
      <p:sp>
        <p:nvSpPr>
          <p:cNvPr id="631065268" name="Text 18"/>
          <p:cNvSpPr/>
          <p:nvPr/>
        </p:nvSpPr>
        <p:spPr bwMode="auto">
          <a:xfrm>
            <a:off x="365760" y="30998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</a:rPr>
              <a:t>Auth &amp; Security</a:t>
            </a:r>
            <a:endParaRPr lang="en-US" sz="1000"/>
          </a:p>
        </p:txBody>
      </p:sp>
      <p:sp>
        <p:nvSpPr>
          <p:cNvPr id="694689611" name="Shape 19"/>
          <p:cNvSpPr/>
          <p:nvPr/>
        </p:nvSpPr>
        <p:spPr bwMode="auto">
          <a:xfrm>
            <a:off x="1901952" y="3273552"/>
            <a:ext cx="6858000" cy="36576"/>
          </a:xfrm>
          <a:prstGeom prst="rect">
            <a:avLst/>
          </a:prstGeom>
          <a:solidFill>
            <a:srgbClr val="1A3158">
              <a:alpha val="50000"/>
            </a:srgbClr>
          </a:solidFill>
          <a:ln w="12700">
            <a:solidFill>
              <a:srgbClr val="1A3158">
                <a:alpha val="50000"/>
              </a:srgbClr>
            </a:solidFill>
            <a:prstDash val="solid"/>
          </a:ln>
        </p:spPr>
      </p:sp>
      <p:sp>
        <p:nvSpPr>
          <p:cNvPr id="2096579779" name="Shape 20"/>
          <p:cNvSpPr/>
          <p:nvPr/>
        </p:nvSpPr>
        <p:spPr bwMode="auto">
          <a:xfrm>
            <a:off x="1920240" y="3026664"/>
            <a:ext cx="6858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19764476" name="Text 21"/>
          <p:cNvSpPr/>
          <p:nvPr/>
        </p:nvSpPr>
        <p:spPr bwMode="auto">
          <a:xfrm>
            <a:off x="2103120" y="311810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NextAuth.js · Role-Based Access Control (RBAC)</a:t>
            </a:r>
            <a:endParaRPr lang="en-US" sz="1200"/>
          </a:p>
        </p:txBody>
      </p:sp>
      <p:sp>
        <p:nvSpPr>
          <p:cNvPr id="2001331779" name="Shape 22"/>
          <p:cNvSpPr/>
          <p:nvPr/>
        </p:nvSpPr>
        <p:spPr bwMode="auto">
          <a:xfrm>
            <a:off x="365760" y="3685032"/>
            <a:ext cx="146304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46823970" name="Text 23"/>
          <p:cNvSpPr/>
          <p:nvPr/>
        </p:nvSpPr>
        <p:spPr bwMode="auto">
          <a:xfrm>
            <a:off x="365760" y="3758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</a:rPr>
              <a:t>Cloud Services</a:t>
            </a:r>
            <a:endParaRPr lang="en-US" sz="1000"/>
          </a:p>
        </p:txBody>
      </p:sp>
      <p:sp>
        <p:nvSpPr>
          <p:cNvPr id="711215016" name="Shape 24"/>
          <p:cNvSpPr/>
          <p:nvPr/>
        </p:nvSpPr>
        <p:spPr bwMode="auto">
          <a:xfrm>
            <a:off x="1901952" y="3931920"/>
            <a:ext cx="6858000" cy="36576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1683642990" name="Shape 25"/>
          <p:cNvSpPr/>
          <p:nvPr/>
        </p:nvSpPr>
        <p:spPr bwMode="auto">
          <a:xfrm>
            <a:off x="1920240" y="3685032"/>
            <a:ext cx="6858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38341695" name="Text 26"/>
          <p:cNvSpPr/>
          <p:nvPr/>
        </p:nvSpPr>
        <p:spPr bwMode="auto">
          <a:xfrm>
            <a:off x="2103120" y="37764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Cloudinary (media) · Resend/SendGrid (notifications)</a:t>
            </a:r>
            <a:endParaRPr lang="en-US" sz="1200"/>
          </a:p>
        </p:txBody>
      </p:sp>
      <p:sp>
        <p:nvSpPr>
          <p:cNvPr id="1278735404" name="Shape 27"/>
          <p:cNvSpPr/>
          <p:nvPr/>
        </p:nvSpPr>
        <p:spPr bwMode="auto">
          <a:xfrm>
            <a:off x="365760" y="4343400"/>
            <a:ext cx="1463040" cy="5303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37201774" name="Text 28"/>
          <p:cNvSpPr/>
          <p:nvPr/>
        </p:nvSpPr>
        <p:spPr bwMode="auto">
          <a:xfrm>
            <a:off x="365760" y="4416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</a:rPr>
              <a:t>Hosting / CI/CD</a:t>
            </a:r>
            <a:endParaRPr lang="en-US" sz="1000"/>
          </a:p>
        </p:txBody>
      </p:sp>
      <p:sp>
        <p:nvSpPr>
          <p:cNvPr id="409142414" name="Shape 29"/>
          <p:cNvSpPr/>
          <p:nvPr/>
        </p:nvSpPr>
        <p:spPr bwMode="auto">
          <a:xfrm>
            <a:off x="1901952" y="4590288"/>
            <a:ext cx="6858000" cy="36576"/>
          </a:xfrm>
          <a:prstGeom prst="rect">
            <a:avLst/>
          </a:prstGeom>
          <a:solidFill>
            <a:srgbClr val="0F1F3D">
              <a:alpha val="50000"/>
            </a:srgbClr>
          </a:solidFill>
          <a:ln w="12700">
            <a:solidFill>
              <a:srgbClr val="0F1F3D">
                <a:alpha val="50000"/>
              </a:srgbClr>
            </a:solidFill>
            <a:prstDash val="solid"/>
          </a:ln>
        </p:spPr>
      </p:sp>
      <p:sp>
        <p:nvSpPr>
          <p:cNvPr id="1616675058" name="Shape 30"/>
          <p:cNvSpPr/>
          <p:nvPr/>
        </p:nvSpPr>
        <p:spPr bwMode="auto">
          <a:xfrm>
            <a:off x="1920240" y="4343400"/>
            <a:ext cx="6858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78436116" name="Text 31"/>
          <p:cNvSpPr/>
          <p:nvPr/>
        </p:nvSpPr>
        <p:spPr bwMode="auto">
          <a:xfrm>
            <a:off x="2103120" y="4434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D1B2A"/>
                </a:solidFill>
              </a:rPr>
              <a:t>Vercel · Auto-scaling · SSL · Edge CDN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7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97555" name="Shape 0"/>
          <p:cNvSpPr/>
          <p:nvPr/>
        </p:nvSpPr>
        <p:spPr bwMode="auto">
          <a:xfrm>
            <a:off x="0" y="0"/>
            <a:ext cx="3840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94433817" name="Text 1"/>
          <p:cNvSpPr/>
          <p:nvPr/>
        </p:nvSpPr>
        <p:spPr bwMode="auto">
          <a:xfrm>
            <a:off x="27432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400">
                <a:solidFill>
                  <a:srgbClr val="FFFFFF"/>
                </a:solidFill>
              </a:rPr>
              <a:t>MODULE 01</a:t>
            </a:r>
            <a:endParaRPr lang="en-US" sz="1000"/>
          </a:p>
        </p:txBody>
      </p:sp>
      <p:sp>
        <p:nvSpPr>
          <p:cNvPr id="1601792394" name="Text 2"/>
          <p:cNvSpPr/>
          <p:nvPr/>
        </p:nvSpPr>
        <p:spPr bwMode="auto">
          <a:xfrm>
            <a:off x="274320" y="822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</a:rPr>
              <a:t>Specialist</a:t>
            </a:r>
            <a:endParaRPr lang="en-US" sz="3000"/>
          </a:p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</a:rPr>
              <a:t>Company</a:t>
            </a:r>
            <a:endParaRPr lang="en-US" sz="3000"/>
          </a:p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</a:rPr>
              <a:t>Ecosystem</a:t>
            </a:r>
            <a:endParaRPr lang="en-US" sz="3000"/>
          </a:p>
        </p:txBody>
      </p:sp>
      <p:sp>
        <p:nvSpPr>
          <p:cNvPr id="1939396365" name="Text 3"/>
          <p:cNvSpPr/>
          <p:nvPr/>
        </p:nvSpPr>
        <p:spPr bwMode="auto">
          <a:xfrm>
            <a:off x="274320" y="292608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Invite-only on-boarding with admin approval workflow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Structured service listings, pricing tiers &amp; availability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Secure document vault — certifications, NDAs, credentials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Engagement tracker &amp; meeting availability calendar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Automated alerts for new matches &amp; admin requests</a:t>
            </a:r>
            <a:endParaRPr lang="en-US" sz="1100"/>
          </a:p>
        </p:txBody>
      </p:sp>
      <p:sp>
        <p:nvSpPr>
          <p:cNvPr id="309702061" name="Text 4"/>
          <p:cNvSpPr/>
          <p:nvPr/>
        </p:nvSpPr>
        <p:spPr bwMode="auto">
          <a:xfrm>
            <a:off x="4114800" y="274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1F3D"/>
                </a:solidFill>
              </a:rPr>
              <a:t>On-boarding, Profiles &amp; Service Catalogs</a:t>
            </a:r>
            <a:endParaRPr lang="en-US" sz="1800"/>
          </a:p>
        </p:txBody>
      </p:sp>
      <p:sp>
        <p:nvSpPr>
          <p:cNvPr id="1515718969" name="Shape 5"/>
          <p:cNvSpPr/>
          <p:nvPr/>
        </p:nvSpPr>
        <p:spPr bwMode="auto">
          <a:xfrm>
            <a:off x="4114800" y="100584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27437866" name="Shape 6"/>
          <p:cNvSpPr/>
          <p:nvPr/>
        </p:nvSpPr>
        <p:spPr bwMode="auto">
          <a:xfrm>
            <a:off x="4114800" y="1005840"/>
            <a:ext cx="54864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2852748" name="Text 7"/>
          <p:cNvSpPr/>
          <p:nvPr/>
        </p:nvSpPr>
        <p:spPr bwMode="auto">
          <a:xfrm>
            <a:off x="425196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Admin approves profile before going live</a:t>
            </a:r>
            <a:endParaRPr lang="en-US" sz="1100"/>
          </a:p>
        </p:txBody>
      </p:sp>
      <p:sp>
        <p:nvSpPr>
          <p:cNvPr id="863660252" name="Shape 8"/>
          <p:cNvSpPr/>
          <p:nvPr/>
        </p:nvSpPr>
        <p:spPr bwMode="auto">
          <a:xfrm>
            <a:off x="6537960" y="100584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73004693" name="Shape 9"/>
          <p:cNvSpPr/>
          <p:nvPr/>
        </p:nvSpPr>
        <p:spPr bwMode="auto">
          <a:xfrm>
            <a:off x="6537960" y="1005840"/>
            <a:ext cx="54864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5563156" name="Text 10"/>
          <p:cNvSpPr/>
          <p:nvPr/>
        </p:nvSpPr>
        <p:spPr bwMode="auto">
          <a:xfrm>
            <a:off x="667512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Companies manage own service catalog</a:t>
            </a:r>
            <a:endParaRPr lang="en-US" sz="1100"/>
          </a:p>
        </p:txBody>
      </p:sp>
      <p:sp>
        <p:nvSpPr>
          <p:cNvPr id="203468488" name="Shape 11"/>
          <p:cNvSpPr/>
          <p:nvPr/>
        </p:nvSpPr>
        <p:spPr bwMode="auto">
          <a:xfrm>
            <a:off x="4114800" y="237744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58118651" name="Shape 12"/>
          <p:cNvSpPr/>
          <p:nvPr/>
        </p:nvSpPr>
        <p:spPr bwMode="auto">
          <a:xfrm>
            <a:off x="4114800" y="2377440"/>
            <a:ext cx="54864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57599832" name="Text 13"/>
          <p:cNvSpPr/>
          <p:nvPr/>
        </p:nvSpPr>
        <p:spPr bwMode="auto">
          <a:xfrm>
            <a:off x="4251960" y="2560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Credentials stored securely</a:t>
            </a:r>
            <a:endParaRPr lang="en-US" sz="1100"/>
          </a:p>
        </p:txBody>
      </p:sp>
      <p:sp>
        <p:nvSpPr>
          <p:cNvPr id="76085677" name="Shape 14"/>
          <p:cNvSpPr/>
          <p:nvPr/>
        </p:nvSpPr>
        <p:spPr bwMode="auto">
          <a:xfrm>
            <a:off x="6537960" y="237744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26190298" name="Shape 15"/>
          <p:cNvSpPr/>
          <p:nvPr/>
        </p:nvSpPr>
        <p:spPr bwMode="auto">
          <a:xfrm>
            <a:off x="6537960" y="2377440"/>
            <a:ext cx="54864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29588368" name="Text 16"/>
          <p:cNvSpPr/>
          <p:nvPr/>
        </p:nvSpPr>
        <p:spPr bwMode="auto">
          <a:xfrm>
            <a:off x="6675120" y="2560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Real-time match notifications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F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981332" name="Text 0"/>
          <p:cNvSpPr/>
          <p:nvPr/>
        </p:nvSpPr>
        <p:spPr bwMode="auto"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400">
                <a:solidFill>
                  <a:srgbClr val="00A896"/>
                </a:solidFill>
              </a:rPr>
              <a:t>MODULE 02</a:t>
            </a:r>
            <a:endParaRPr lang="en-US" sz="1000"/>
          </a:p>
        </p:txBody>
      </p:sp>
      <p:sp>
        <p:nvSpPr>
          <p:cNvPr id="1230542081" name="Text 1"/>
          <p:cNvSpPr/>
          <p:nvPr/>
        </p:nvSpPr>
        <p:spPr bwMode="auto"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Client Portal &amp; Matching</a:t>
            </a:r>
            <a:endParaRPr lang="en-US" sz="2800"/>
          </a:p>
        </p:txBody>
      </p:sp>
      <p:sp>
        <p:nvSpPr>
          <p:cNvPr id="996997767" name="Text 2"/>
          <p:cNvSpPr/>
          <p:nvPr/>
        </p:nvSpPr>
        <p:spPr bwMode="auto"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BD5E1"/>
                </a:solidFill>
              </a:rPr>
              <a:t>From Intake to Active Engagement</a:t>
            </a:r>
            <a:endParaRPr lang="en-US" sz="1300"/>
          </a:p>
        </p:txBody>
      </p:sp>
      <p:sp>
        <p:nvSpPr>
          <p:cNvPr id="1933065575" name="Shape 3"/>
          <p:cNvSpPr/>
          <p:nvPr/>
        </p:nvSpPr>
        <p:spPr bwMode="auto">
          <a:xfrm>
            <a:off x="914400" y="16002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61233081" name="Text 4"/>
          <p:cNvSpPr/>
          <p:nvPr/>
        </p:nvSpPr>
        <p:spPr bwMode="auto">
          <a:xfrm>
            <a:off x="9144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</a:rPr>
              <a:t>1</a:t>
            </a:r>
            <a:endParaRPr lang="en-US" sz="1800"/>
          </a:p>
        </p:txBody>
      </p:sp>
      <p:sp>
        <p:nvSpPr>
          <p:cNvPr id="573527302" name="Text 5"/>
          <p:cNvSpPr/>
          <p:nvPr/>
        </p:nvSpPr>
        <p:spPr bwMode="auto">
          <a:xfrm>
            <a:off x="45720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Client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Registers</a:t>
            </a:r>
            <a:endParaRPr lang="en-US" sz="1000"/>
          </a:p>
        </p:txBody>
      </p:sp>
      <p:sp>
        <p:nvSpPr>
          <p:cNvPr id="1873503306" name="Shape 6"/>
          <p:cNvSpPr/>
          <p:nvPr/>
        </p:nvSpPr>
        <p:spPr bwMode="auto">
          <a:xfrm>
            <a:off x="1664208" y="1965960"/>
            <a:ext cx="43891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672174552" name="Shape 7"/>
          <p:cNvSpPr/>
          <p:nvPr/>
        </p:nvSpPr>
        <p:spPr bwMode="auto">
          <a:xfrm>
            <a:off x="2578608" y="1600200"/>
            <a:ext cx="731520" cy="731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97209901" name="Text 8"/>
          <p:cNvSpPr/>
          <p:nvPr/>
        </p:nvSpPr>
        <p:spPr bwMode="auto">
          <a:xfrm>
            <a:off x="257860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</a:rPr>
              <a:t>2</a:t>
            </a:r>
            <a:endParaRPr lang="en-US" sz="1800"/>
          </a:p>
        </p:txBody>
      </p:sp>
      <p:sp>
        <p:nvSpPr>
          <p:cNvPr id="1606358077" name="Text 9"/>
          <p:cNvSpPr/>
          <p:nvPr/>
        </p:nvSpPr>
        <p:spPr bwMode="auto">
          <a:xfrm>
            <a:off x="2121408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Needs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Assessment</a:t>
            </a:r>
            <a:endParaRPr lang="en-US" sz="1000"/>
          </a:p>
        </p:txBody>
      </p:sp>
      <p:sp>
        <p:nvSpPr>
          <p:cNvPr id="1635843361" name="Shape 10"/>
          <p:cNvSpPr/>
          <p:nvPr/>
        </p:nvSpPr>
        <p:spPr bwMode="auto">
          <a:xfrm>
            <a:off x="3328416" y="1965960"/>
            <a:ext cx="43891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25846685" name="Shape 11"/>
          <p:cNvSpPr/>
          <p:nvPr/>
        </p:nvSpPr>
        <p:spPr bwMode="auto">
          <a:xfrm>
            <a:off x="4242816" y="160020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47796142" name="Text 12"/>
          <p:cNvSpPr/>
          <p:nvPr/>
        </p:nvSpPr>
        <p:spPr bwMode="auto">
          <a:xfrm>
            <a:off x="424281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</a:rPr>
              <a:t>3</a:t>
            </a:r>
            <a:endParaRPr lang="en-US" sz="1800"/>
          </a:p>
        </p:txBody>
      </p:sp>
      <p:sp>
        <p:nvSpPr>
          <p:cNvPr id="445067269" name="Text 13"/>
          <p:cNvSpPr/>
          <p:nvPr/>
        </p:nvSpPr>
        <p:spPr bwMode="auto">
          <a:xfrm>
            <a:off x="3785616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Admin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Matches</a:t>
            </a:r>
            <a:endParaRPr lang="en-US" sz="1000"/>
          </a:p>
        </p:txBody>
      </p:sp>
      <p:sp>
        <p:nvSpPr>
          <p:cNvPr id="1065615206" name="Shape 14"/>
          <p:cNvSpPr/>
          <p:nvPr/>
        </p:nvSpPr>
        <p:spPr bwMode="auto">
          <a:xfrm>
            <a:off x="4992624" y="1965960"/>
            <a:ext cx="43891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143804307" name="Shape 15"/>
          <p:cNvSpPr/>
          <p:nvPr/>
        </p:nvSpPr>
        <p:spPr bwMode="auto">
          <a:xfrm>
            <a:off x="5907024" y="160020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4371262" name="Text 16"/>
          <p:cNvSpPr/>
          <p:nvPr/>
        </p:nvSpPr>
        <p:spPr bwMode="auto">
          <a:xfrm>
            <a:off x="5907024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</a:rPr>
              <a:t>4</a:t>
            </a:r>
            <a:endParaRPr lang="en-US" sz="1800"/>
          </a:p>
        </p:txBody>
      </p:sp>
      <p:sp>
        <p:nvSpPr>
          <p:cNvPr id="788830472" name="Text 17"/>
          <p:cNvSpPr/>
          <p:nvPr/>
        </p:nvSpPr>
        <p:spPr bwMode="auto">
          <a:xfrm>
            <a:off x="5449823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Engagement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Opens</a:t>
            </a:r>
            <a:endParaRPr lang="en-US" sz="1000"/>
          </a:p>
        </p:txBody>
      </p:sp>
      <p:sp>
        <p:nvSpPr>
          <p:cNvPr id="1107178248" name="Shape 18"/>
          <p:cNvSpPr/>
          <p:nvPr/>
        </p:nvSpPr>
        <p:spPr bwMode="auto">
          <a:xfrm>
            <a:off x="6656832" y="1965960"/>
            <a:ext cx="43891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669688454" name="Shape 19"/>
          <p:cNvSpPr/>
          <p:nvPr/>
        </p:nvSpPr>
        <p:spPr bwMode="auto">
          <a:xfrm>
            <a:off x="7571232" y="1600200"/>
            <a:ext cx="731520" cy="731520"/>
          </a:xfrm>
          <a:prstGeom prst="ellipse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</p:spPr>
      </p:sp>
      <p:sp>
        <p:nvSpPr>
          <p:cNvPr id="2026286082" name="Text 20"/>
          <p:cNvSpPr/>
          <p:nvPr/>
        </p:nvSpPr>
        <p:spPr bwMode="auto">
          <a:xfrm>
            <a:off x="7571232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</a:rPr>
              <a:t>5</a:t>
            </a:r>
            <a:endParaRPr lang="en-US" sz="1800"/>
          </a:p>
        </p:txBody>
      </p:sp>
      <p:sp>
        <p:nvSpPr>
          <p:cNvPr id="1008140916" name="Text 21"/>
          <p:cNvSpPr/>
          <p:nvPr/>
        </p:nvSpPr>
        <p:spPr bwMode="auto">
          <a:xfrm>
            <a:off x="7114032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Active &amp;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Monitored</a:t>
            </a:r>
            <a:endParaRPr lang="en-US" sz="1000"/>
          </a:p>
        </p:txBody>
      </p:sp>
      <p:sp>
        <p:nvSpPr>
          <p:cNvPr id="531086308" name="Shape 22"/>
          <p:cNvSpPr/>
          <p:nvPr/>
        </p:nvSpPr>
        <p:spPr bwMode="auto">
          <a:xfrm>
            <a:off x="457200" y="3154680"/>
            <a:ext cx="8229600" cy="1691640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26275660" name="Text 23"/>
          <p:cNvSpPr/>
          <p:nvPr/>
        </p:nvSpPr>
        <p:spPr bwMode="auto">
          <a:xfrm>
            <a:off x="685800" y="3246120"/>
            <a:ext cx="7772400" cy="1508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Public landing page → structured needs assessment form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Admin-mediated matching — prevents cold/direct outreach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Engagement pipeline: Matched → Proposal → Active → Completed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Secure document exchange &amp; supervised communication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</a:rPr>
              <a:t>Integrated workspace booking for meeting &amp; boardroom needs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4F7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827747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15817154" name="Text 1"/>
          <p:cNvSpPr/>
          <p:nvPr/>
        </p:nvSpPr>
        <p:spPr bwMode="auto"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MODULE 03  ·  Workspace Booking Engine</a:t>
            </a:r>
            <a:endParaRPr lang="en-US" sz="2200"/>
          </a:p>
        </p:txBody>
      </p:sp>
      <p:sp>
        <p:nvSpPr>
          <p:cNvPr id="741120918" name="Text 2"/>
          <p:cNvSpPr/>
          <p:nvPr/>
        </p:nvSpPr>
        <p:spPr bwMode="auto"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0A896"/>
                </a:solidFill>
              </a:rPr>
              <a:t>Real-Time Scheduling &amp; Conflict Prevention</a:t>
            </a:r>
            <a:endParaRPr lang="en-US" sz="1300"/>
          </a:p>
        </p:txBody>
      </p:sp>
      <p:sp>
        <p:nvSpPr>
          <p:cNvPr id="57929403" name="Shape 3"/>
          <p:cNvSpPr/>
          <p:nvPr/>
        </p:nvSpPr>
        <p:spPr bwMode="auto">
          <a:xfrm>
            <a:off x="365760" y="105156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32704297" name="Text 4"/>
          <p:cNvSpPr/>
          <p:nvPr/>
        </p:nvSpPr>
        <p:spPr bwMode="auto">
          <a:xfrm>
            <a:off x="36576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A896"/>
                </a:solidFill>
              </a:rPr>
              <a:t>01</a:t>
            </a:r>
            <a:endParaRPr lang="en-US" sz="2000"/>
          </a:p>
        </p:txBody>
      </p:sp>
      <p:sp>
        <p:nvSpPr>
          <p:cNvPr id="642240364" name="Text 5"/>
          <p:cNvSpPr/>
          <p:nvPr/>
        </p:nvSpPr>
        <p:spPr bwMode="auto">
          <a:xfrm>
            <a:off x="36576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Browse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Availability</a:t>
            </a:r>
            <a:endParaRPr lang="en-US" sz="1000"/>
          </a:p>
        </p:txBody>
      </p:sp>
      <p:sp>
        <p:nvSpPr>
          <p:cNvPr id="278455297" name="Shape 6"/>
          <p:cNvSpPr/>
          <p:nvPr/>
        </p:nvSpPr>
        <p:spPr bwMode="auto">
          <a:xfrm>
            <a:off x="2304288" y="1508759"/>
            <a:ext cx="1645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94375406" name="Shape 7"/>
          <p:cNvSpPr/>
          <p:nvPr/>
        </p:nvSpPr>
        <p:spPr bwMode="auto">
          <a:xfrm>
            <a:off x="2487168" y="105156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08473096" name="Text 8"/>
          <p:cNvSpPr/>
          <p:nvPr/>
        </p:nvSpPr>
        <p:spPr bwMode="auto">
          <a:xfrm>
            <a:off x="2487168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A896"/>
                </a:solidFill>
              </a:rPr>
              <a:t>02</a:t>
            </a:r>
            <a:endParaRPr lang="en-US" sz="2000"/>
          </a:p>
        </p:txBody>
      </p:sp>
      <p:sp>
        <p:nvSpPr>
          <p:cNvPr id="1706431522" name="Text 9"/>
          <p:cNvSpPr/>
          <p:nvPr/>
        </p:nvSpPr>
        <p:spPr bwMode="auto">
          <a:xfrm>
            <a:off x="2487168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Select Space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&amp; Time</a:t>
            </a:r>
            <a:endParaRPr lang="en-US" sz="1000"/>
          </a:p>
        </p:txBody>
      </p:sp>
      <p:sp>
        <p:nvSpPr>
          <p:cNvPr id="1165026863" name="Shape 10"/>
          <p:cNvSpPr/>
          <p:nvPr/>
        </p:nvSpPr>
        <p:spPr bwMode="auto">
          <a:xfrm>
            <a:off x="4425696" y="1508759"/>
            <a:ext cx="1645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94119625" name="Shape 11"/>
          <p:cNvSpPr/>
          <p:nvPr/>
        </p:nvSpPr>
        <p:spPr bwMode="auto">
          <a:xfrm>
            <a:off x="4608576" y="105156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523768154" name="Text 12"/>
          <p:cNvSpPr/>
          <p:nvPr/>
        </p:nvSpPr>
        <p:spPr bwMode="auto">
          <a:xfrm>
            <a:off x="4608576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A896"/>
                </a:solidFill>
              </a:rPr>
              <a:t>03</a:t>
            </a:r>
            <a:endParaRPr lang="en-US" sz="2000"/>
          </a:p>
        </p:txBody>
      </p:sp>
      <p:sp>
        <p:nvSpPr>
          <p:cNvPr id="692207567" name="Text 13"/>
          <p:cNvSpPr/>
          <p:nvPr/>
        </p:nvSpPr>
        <p:spPr bwMode="auto">
          <a:xfrm>
            <a:off x="4608576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Confirm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Booking</a:t>
            </a:r>
            <a:endParaRPr lang="en-US" sz="1000"/>
          </a:p>
        </p:txBody>
      </p:sp>
      <p:sp>
        <p:nvSpPr>
          <p:cNvPr id="26583221" name="Shape 14"/>
          <p:cNvSpPr/>
          <p:nvPr/>
        </p:nvSpPr>
        <p:spPr bwMode="auto">
          <a:xfrm>
            <a:off x="6547104" y="1508759"/>
            <a:ext cx="16459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99526447" name="Shape 15"/>
          <p:cNvSpPr/>
          <p:nvPr/>
        </p:nvSpPr>
        <p:spPr bwMode="auto">
          <a:xfrm>
            <a:off x="6729984" y="105156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25139119" name="Text 16"/>
          <p:cNvSpPr/>
          <p:nvPr/>
        </p:nvSpPr>
        <p:spPr bwMode="auto">
          <a:xfrm>
            <a:off x="6729984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A896"/>
                </a:solidFill>
              </a:rPr>
              <a:t>04</a:t>
            </a:r>
            <a:endParaRPr lang="en-US" sz="2000"/>
          </a:p>
        </p:txBody>
      </p:sp>
      <p:sp>
        <p:nvSpPr>
          <p:cNvPr id="1107426666" name="Text 17"/>
          <p:cNvSpPr/>
          <p:nvPr/>
        </p:nvSpPr>
        <p:spPr bwMode="auto">
          <a:xfrm>
            <a:off x="6729984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Auto Invoice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Generated</a:t>
            </a:r>
            <a:endParaRPr lang="en-US" sz="1000"/>
          </a:p>
        </p:txBody>
      </p:sp>
      <p:sp>
        <p:nvSpPr>
          <p:cNvPr id="1147428982" name="Shape 18"/>
          <p:cNvSpPr/>
          <p:nvPr/>
        </p:nvSpPr>
        <p:spPr bwMode="auto">
          <a:xfrm>
            <a:off x="365760" y="2194560"/>
            <a:ext cx="4160519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04011372" name="Shape 19"/>
          <p:cNvSpPr/>
          <p:nvPr/>
        </p:nvSpPr>
        <p:spPr bwMode="auto">
          <a:xfrm>
            <a:off x="365760" y="219456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1652811" name="Text 20"/>
          <p:cNvSpPr/>
          <p:nvPr/>
        </p:nvSpPr>
        <p:spPr bwMode="auto">
          <a:xfrm>
            <a:off x="50292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F3D"/>
                </a:solidFill>
              </a:rPr>
              <a:t>Live Calendar</a:t>
            </a:r>
            <a:endParaRPr lang="en-US" sz="1100"/>
          </a:p>
        </p:txBody>
      </p:sp>
      <p:sp>
        <p:nvSpPr>
          <p:cNvPr id="1982477021" name="Text 21"/>
          <p:cNvSpPr/>
          <p:nvPr/>
        </p:nvSpPr>
        <p:spPr bwMode="auto">
          <a:xfrm>
            <a:off x="502920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Instant double-booking prevention with real-time availability</a:t>
            </a:r>
            <a:endParaRPr lang="en-US" sz="1000"/>
          </a:p>
        </p:txBody>
      </p:sp>
      <p:sp>
        <p:nvSpPr>
          <p:cNvPr id="798845464" name="Shape 22"/>
          <p:cNvSpPr/>
          <p:nvPr/>
        </p:nvSpPr>
        <p:spPr bwMode="auto">
          <a:xfrm>
            <a:off x="4709160" y="2194560"/>
            <a:ext cx="4160519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31098005" name="Shape 23"/>
          <p:cNvSpPr/>
          <p:nvPr/>
        </p:nvSpPr>
        <p:spPr bwMode="auto">
          <a:xfrm>
            <a:off x="4709160" y="219456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04789764" name="Text 24"/>
          <p:cNvSpPr/>
          <p:nvPr/>
        </p:nvSpPr>
        <p:spPr bwMode="auto">
          <a:xfrm>
            <a:off x="484632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F3D"/>
                </a:solidFill>
              </a:rPr>
              <a:t>Flexible Pricing</a:t>
            </a:r>
            <a:endParaRPr lang="en-US" sz="1100"/>
          </a:p>
        </p:txBody>
      </p:sp>
      <p:sp>
        <p:nvSpPr>
          <p:cNvPr id="163185365" name="Text 25"/>
          <p:cNvSpPr/>
          <p:nvPr/>
        </p:nvSpPr>
        <p:spPr bwMode="auto">
          <a:xfrm>
            <a:off x="4846320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Hourly, half-day, full-day rates &amp; recurring reservations</a:t>
            </a:r>
            <a:endParaRPr lang="en-US" sz="1000"/>
          </a:p>
        </p:txBody>
      </p:sp>
      <p:sp>
        <p:nvSpPr>
          <p:cNvPr id="811538680" name="Shape 26"/>
          <p:cNvSpPr/>
          <p:nvPr/>
        </p:nvSpPr>
        <p:spPr bwMode="auto">
          <a:xfrm>
            <a:off x="365760" y="3108960"/>
            <a:ext cx="4160519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75704767" name="Shape 27"/>
          <p:cNvSpPr/>
          <p:nvPr/>
        </p:nvSpPr>
        <p:spPr bwMode="auto">
          <a:xfrm>
            <a:off x="365760" y="310896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4847135" name="Text 28"/>
          <p:cNvSpPr/>
          <p:nvPr/>
        </p:nvSpPr>
        <p:spPr bwMode="auto">
          <a:xfrm>
            <a:off x="502920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F3D"/>
                </a:solidFill>
              </a:rPr>
              <a:t>Auto Confirmations</a:t>
            </a:r>
            <a:endParaRPr lang="en-US" sz="1100"/>
          </a:p>
        </p:txBody>
      </p:sp>
      <p:sp>
        <p:nvSpPr>
          <p:cNvPr id="422131482" name="Text 29"/>
          <p:cNvSpPr/>
          <p:nvPr/>
        </p:nvSpPr>
        <p:spPr bwMode="auto">
          <a:xfrm>
            <a:off x="502920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Calendar invites, reminders &amp; check-in logs automated</a:t>
            </a:r>
            <a:endParaRPr lang="en-US" sz="1000"/>
          </a:p>
        </p:txBody>
      </p:sp>
      <p:sp>
        <p:nvSpPr>
          <p:cNvPr id="1639968520" name="Shape 30"/>
          <p:cNvSpPr/>
          <p:nvPr/>
        </p:nvSpPr>
        <p:spPr bwMode="auto">
          <a:xfrm>
            <a:off x="4709160" y="3108960"/>
            <a:ext cx="4160519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57558277" name="Shape 31"/>
          <p:cNvSpPr/>
          <p:nvPr/>
        </p:nvSpPr>
        <p:spPr bwMode="auto">
          <a:xfrm>
            <a:off x="4709160" y="310896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5352311" name="Text 32"/>
          <p:cNvSpPr/>
          <p:nvPr/>
        </p:nvSpPr>
        <p:spPr bwMode="auto">
          <a:xfrm>
            <a:off x="4846320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F3D"/>
                </a:solidFill>
              </a:rPr>
              <a:t>Policy Controls</a:t>
            </a:r>
            <a:endParaRPr lang="en-US" sz="1100"/>
          </a:p>
        </p:txBody>
      </p:sp>
      <p:sp>
        <p:nvSpPr>
          <p:cNvPr id="1448318696" name="Text 33"/>
          <p:cNvSpPr/>
          <p:nvPr/>
        </p:nvSpPr>
        <p:spPr bwMode="auto">
          <a:xfrm>
            <a:off x="4846320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Cancellation policies &amp; integrated invoicing built-in</a:t>
            </a:r>
            <a:endParaRPr lang="en-US" sz="1000"/>
          </a:p>
        </p:txBody>
      </p:sp>
      <p:sp>
        <p:nvSpPr>
          <p:cNvPr id="1685939421" name="Shape 34"/>
          <p:cNvSpPr/>
          <p:nvPr/>
        </p:nvSpPr>
        <p:spPr bwMode="auto">
          <a:xfrm>
            <a:off x="365760" y="4023360"/>
            <a:ext cx="4160519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76281824" name="Shape 35"/>
          <p:cNvSpPr/>
          <p:nvPr/>
        </p:nvSpPr>
        <p:spPr bwMode="auto">
          <a:xfrm>
            <a:off x="365760" y="4023360"/>
            <a:ext cx="54864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5544294" name="Text 36"/>
          <p:cNvSpPr/>
          <p:nvPr/>
        </p:nvSpPr>
        <p:spPr bwMode="auto">
          <a:xfrm>
            <a:off x="50292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F3D"/>
                </a:solidFill>
              </a:rPr>
              <a:t>Utilization Reports</a:t>
            </a:r>
            <a:endParaRPr lang="en-US" sz="1100"/>
          </a:p>
        </p:txBody>
      </p:sp>
      <p:sp>
        <p:nvSpPr>
          <p:cNvPr id="1453566165" name="Text 37"/>
          <p:cNvSpPr/>
          <p:nvPr/>
        </p:nvSpPr>
        <p:spPr bwMode="auto">
          <a:xfrm>
            <a:off x="502920" y="4370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Space utilization tracking &amp; capacity forecasting for admins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728688" name="Text 0"/>
          <p:cNvSpPr/>
          <p:nvPr/>
        </p:nvSpPr>
        <p:spPr bwMode="auto"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400">
                <a:solidFill>
                  <a:srgbClr val="02C39A"/>
                </a:solidFill>
              </a:rPr>
              <a:t>MODULE 04</a:t>
            </a:r>
            <a:endParaRPr lang="en-US" sz="1000"/>
          </a:p>
        </p:txBody>
      </p:sp>
      <p:sp>
        <p:nvSpPr>
          <p:cNvPr id="554943897" name="Text 1"/>
          <p:cNvSpPr/>
          <p:nvPr/>
        </p:nvSpPr>
        <p:spPr bwMode="auto"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Admin Dashboard &amp; Supervision</a:t>
            </a:r>
            <a:endParaRPr lang="en-US" sz="2800"/>
          </a:p>
        </p:txBody>
      </p:sp>
      <p:sp>
        <p:nvSpPr>
          <p:cNvPr id="1675163223" name="Text 2"/>
          <p:cNvSpPr/>
          <p:nvPr/>
        </p:nvSpPr>
        <p:spPr bwMode="auto"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4748B"/>
                </a:solidFill>
              </a:rPr>
              <a:t>Complete Operational Oversight</a:t>
            </a:r>
            <a:endParaRPr lang="en-US" sz="1300"/>
          </a:p>
        </p:txBody>
      </p:sp>
      <p:sp>
        <p:nvSpPr>
          <p:cNvPr id="845661253" name="Shape 3"/>
          <p:cNvSpPr/>
          <p:nvPr/>
        </p:nvSpPr>
        <p:spPr bwMode="auto">
          <a:xfrm>
            <a:off x="365760" y="1508759"/>
            <a:ext cx="2651760" cy="150875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47240024" name="Text 4"/>
          <p:cNvSpPr/>
          <p:nvPr/>
        </p:nvSpPr>
        <p:spPr bwMode="auto">
          <a:xfrm>
            <a:off x="5029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Booking Feed</a:t>
            </a:r>
            <a:endParaRPr lang="en-US" sz="1200"/>
          </a:p>
        </p:txBody>
      </p:sp>
      <p:sp>
        <p:nvSpPr>
          <p:cNvPr id="754550199" name="Text 5"/>
          <p:cNvSpPr/>
          <p:nvPr/>
        </p:nvSpPr>
        <p:spPr bwMode="auto">
          <a:xfrm>
            <a:off x="50292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Live occupancy dashboard with daily booking overview</a:t>
            </a:r>
            <a:endParaRPr lang="en-US" sz="1000"/>
          </a:p>
        </p:txBody>
      </p:sp>
      <p:sp>
        <p:nvSpPr>
          <p:cNvPr id="1582253081" name="Shape 6"/>
          <p:cNvSpPr/>
          <p:nvPr/>
        </p:nvSpPr>
        <p:spPr bwMode="auto">
          <a:xfrm>
            <a:off x="3200400" y="1508759"/>
            <a:ext cx="2651760" cy="150875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30241724" name="Text 7"/>
          <p:cNvSpPr/>
          <p:nvPr/>
        </p:nvSpPr>
        <p:spPr bwMode="auto">
          <a:xfrm>
            <a:off x="33375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Kanban Pipeline</a:t>
            </a:r>
            <a:endParaRPr lang="en-US" sz="1200"/>
          </a:p>
        </p:txBody>
      </p:sp>
      <p:sp>
        <p:nvSpPr>
          <p:cNvPr id="763385944" name="Text 8"/>
          <p:cNvSpPr/>
          <p:nvPr/>
        </p:nvSpPr>
        <p:spPr bwMode="auto">
          <a:xfrm>
            <a:off x="333756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Visual engagement stages from Matched → Completed</a:t>
            </a:r>
            <a:endParaRPr lang="en-US" sz="1000"/>
          </a:p>
        </p:txBody>
      </p:sp>
      <p:sp>
        <p:nvSpPr>
          <p:cNvPr id="649276283" name="Shape 9"/>
          <p:cNvSpPr/>
          <p:nvPr/>
        </p:nvSpPr>
        <p:spPr bwMode="auto">
          <a:xfrm>
            <a:off x="6035039" y="1508759"/>
            <a:ext cx="2651760" cy="1508759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47655303" name="Text 10"/>
          <p:cNvSpPr/>
          <p:nvPr/>
        </p:nvSpPr>
        <p:spPr bwMode="auto">
          <a:xfrm>
            <a:off x="61722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Supervised Messaging</a:t>
            </a:r>
            <a:endParaRPr lang="en-US" sz="1200"/>
          </a:p>
        </p:txBody>
      </p:sp>
      <p:sp>
        <p:nvSpPr>
          <p:cNvPr id="192072874" name="Text 11"/>
          <p:cNvSpPr/>
          <p:nvPr/>
        </p:nvSpPr>
        <p:spPr bwMode="auto">
          <a:xfrm>
            <a:off x="617220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Admin reviews all client-company communications</a:t>
            </a:r>
            <a:endParaRPr lang="en-US" sz="1000"/>
          </a:p>
        </p:txBody>
      </p:sp>
      <p:sp>
        <p:nvSpPr>
          <p:cNvPr id="1380601825" name="Shape 12"/>
          <p:cNvSpPr/>
          <p:nvPr/>
        </p:nvSpPr>
        <p:spPr bwMode="auto">
          <a:xfrm>
            <a:off x="365760" y="3200400"/>
            <a:ext cx="2651760" cy="1508759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96911149" name="Text 13"/>
          <p:cNvSpPr/>
          <p:nvPr/>
        </p:nvSpPr>
        <p:spPr bwMode="auto">
          <a:xfrm>
            <a:off x="50292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Keyword Escalation</a:t>
            </a:r>
            <a:endParaRPr lang="en-US" sz="1200"/>
          </a:p>
        </p:txBody>
      </p:sp>
      <p:sp>
        <p:nvSpPr>
          <p:cNvPr id="252361450" name="Text 14"/>
          <p:cNvSpPr/>
          <p:nvPr/>
        </p:nvSpPr>
        <p:spPr bwMode="auto">
          <a:xfrm>
            <a:off x="50292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Auto-flagging &amp; compliance alerts for risk management</a:t>
            </a:r>
            <a:endParaRPr lang="en-US" sz="1000"/>
          </a:p>
        </p:txBody>
      </p:sp>
      <p:sp>
        <p:nvSpPr>
          <p:cNvPr id="118496891" name="Shape 15"/>
          <p:cNvSpPr/>
          <p:nvPr/>
        </p:nvSpPr>
        <p:spPr bwMode="auto">
          <a:xfrm>
            <a:off x="3200400" y="3200400"/>
            <a:ext cx="2651760" cy="1508759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14097470" name="Text 16"/>
          <p:cNvSpPr/>
          <p:nvPr/>
        </p:nvSpPr>
        <p:spPr bwMode="auto">
          <a:xfrm>
            <a:off x="333756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File Approvals</a:t>
            </a:r>
            <a:endParaRPr lang="en-US" sz="1200"/>
          </a:p>
        </p:txBody>
      </p:sp>
      <p:sp>
        <p:nvSpPr>
          <p:cNvPr id="189848197" name="Text 17"/>
          <p:cNvSpPr/>
          <p:nvPr/>
        </p:nvSpPr>
        <p:spPr bwMode="auto">
          <a:xfrm>
            <a:off x="33375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Document preview &amp; approval workflow for secure exchange</a:t>
            </a:r>
            <a:endParaRPr lang="en-US" sz="1000"/>
          </a:p>
        </p:txBody>
      </p:sp>
      <p:sp>
        <p:nvSpPr>
          <p:cNvPr id="329675960" name="Shape 18"/>
          <p:cNvSpPr/>
          <p:nvPr/>
        </p:nvSpPr>
        <p:spPr bwMode="auto">
          <a:xfrm>
            <a:off x="6035039" y="3200400"/>
            <a:ext cx="2651760" cy="1508759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69186300" name="Text 19"/>
          <p:cNvSpPr/>
          <p:nvPr/>
        </p:nvSpPr>
        <p:spPr bwMode="auto">
          <a:xfrm>
            <a:off x="61722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Audit Logs &amp; Exports</a:t>
            </a:r>
            <a:endParaRPr lang="en-US" sz="1200"/>
          </a:p>
        </p:txBody>
      </p:sp>
      <p:sp>
        <p:nvSpPr>
          <p:cNvPr id="2047836298" name="Text 20"/>
          <p:cNvSpPr/>
          <p:nvPr/>
        </p:nvSpPr>
        <p:spPr bwMode="auto">
          <a:xfrm>
            <a:off x="617220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Immutable logs, revenue snapshots, CSV/PDF exports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4F7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768068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48910570" name="Text 1"/>
          <p:cNvSpPr/>
          <p:nvPr/>
        </p:nvSpPr>
        <p:spPr bwMode="auto"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</a:rPr>
              <a:t>The User Journey, Step by Step</a:t>
            </a:r>
            <a:endParaRPr lang="en-US" sz="2400"/>
          </a:p>
        </p:txBody>
      </p:sp>
      <p:sp>
        <p:nvSpPr>
          <p:cNvPr id="1975267837" name="Shape 2"/>
          <p:cNvSpPr/>
          <p:nvPr/>
        </p:nvSpPr>
        <p:spPr bwMode="auto">
          <a:xfrm>
            <a:off x="320040" y="109728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11670191" name="Shape 3"/>
          <p:cNvSpPr/>
          <p:nvPr/>
        </p:nvSpPr>
        <p:spPr bwMode="auto">
          <a:xfrm>
            <a:off x="320040" y="1097280"/>
            <a:ext cx="269748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58679451" name="Text 4"/>
          <p:cNvSpPr/>
          <p:nvPr/>
        </p:nvSpPr>
        <p:spPr bwMode="auto">
          <a:xfrm>
            <a:off x="429768" y="1161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A896"/>
                </a:solidFill>
              </a:rPr>
              <a:t>01</a:t>
            </a:r>
            <a:endParaRPr lang="en-US" sz="1400"/>
          </a:p>
        </p:txBody>
      </p:sp>
      <p:sp>
        <p:nvSpPr>
          <p:cNvPr id="412385354" name="Text 5"/>
          <p:cNvSpPr/>
          <p:nvPr/>
        </p:nvSpPr>
        <p:spPr bwMode="auto">
          <a:xfrm>
            <a:off x="886968" y="1161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Client Registers</a:t>
            </a:r>
            <a:endParaRPr lang="en-US" sz="1200"/>
          </a:p>
        </p:txBody>
      </p:sp>
      <p:sp>
        <p:nvSpPr>
          <p:cNvPr id="436596944" name="Text 6"/>
          <p:cNvSpPr/>
          <p:nvPr/>
        </p:nvSpPr>
        <p:spPr bwMode="auto">
          <a:xfrm>
            <a:off x="457200" y="17190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Completes structured needs assessment form</a:t>
            </a:r>
            <a:endParaRPr lang="en-US" sz="1100"/>
          </a:p>
        </p:txBody>
      </p:sp>
      <p:sp>
        <p:nvSpPr>
          <p:cNvPr id="917777434" name="Shape 7"/>
          <p:cNvSpPr/>
          <p:nvPr/>
        </p:nvSpPr>
        <p:spPr bwMode="auto">
          <a:xfrm>
            <a:off x="3246120" y="109728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63560039" name="Shape 8"/>
          <p:cNvSpPr/>
          <p:nvPr/>
        </p:nvSpPr>
        <p:spPr bwMode="auto">
          <a:xfrm>
            <a:off x="3246120" y="1097280"/>
            <a:ext cx="269748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7871617" name="Text 9"/>
          <p:cNvSpPr/>
          <p:nvPr/>
        </p:nvSpPr>
        <p:spPr bwMode="auto">
          <a:xfrm>
            <a:off x="3355848" y="1161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A896"/>
                </a:solidFill>
              </a:rPr>
              <a:t>02</a:t>
            </a:r>
            <a:endParaRPr lang="en-US" sz="1400"/>
          </a:p>
        </p:txBody>
      </p:sp>
      <p:sp>
        <p:nvSpPr>
          <p:cNvPr id="1872104850" name="Text 10"/>
          <p:cNvSpPr/>
          <p:nvPr/>
        </p:nvSpPr>
        <p:spPr bwMode="auto">
          <a:xfrm>
            <a:off x="3813048" y="1161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Admin Reviews</a:t>
            </a:r>
            <a:endParaRPr lang="en-US" sz="1200"/>
          </a:p>
        </p:txBody>
      </p:sp>
      <p:sp>
        <p:nvSpPr>
          <p:cNvPr id="1887297269" name="Text 11"/>
          <p:cNvSpPr/>
          <p:nvPr/>
        </p:nvSpPr>
        <p:spPr bwMode="auto">
          <a:xfrm>
            <a:off x="3383280" y="17190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Matches client with vetted specialist company</a:t>
            </a:r>
            <a:endParaRPr lang="en-US" sz="1100"/>
          </a:p>
        </p:txBody>
      </p:sp>
      <p:sp>
        <p:nvSpPr>
          <p:cNvPr id="664416347" name="Shape 12"/>
          <p:cNvSpPr/>
          <p:nvPr/>
        </p:nvSpPr>
        <p:spPr bwMode="auto">
          <a:xfrm>
            <a:off x="6172200" y="109728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04547362" name="Shape 13"/>
          <p:cNvSpPr/>
          <p:nvPr/>
        </p:nvSpPr>
        <p:spPr bwMode="auto">
          <a:xfrm>
            <a:off x="6172200" y="1097280"/>
            <a:ext cx="269748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61161317" name="Text 14"/>
          <p:cNvSpPr/>
          <p:nvPr/>
        </p:nvSpPr>
        <p:spPr bwMode="auto">
          <a:xfrm>
            <a:off x="6281928" y="1161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A896"/>
                </a:solidFill>
              </a:rPr>
              <a:t>03</a:t>
            </a:r>
            <a:endParaRPr lang="en-US" sz="1400"/>
          </a:p>
        </p:txBody>
      </p:sp>
      <p:sp>
        <p:nvSpPr>
          <p:cNvPr id="43529036" name="Text 15"/>
          <p:cNvSpPr/>
          <p:nvPr/>
        </p:nvSpPr>
        <p:spPr bwMode="auto">
          <a:xfrm>
            <a:off x="6739128" y="1161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Engagement Opens</a:t>
            </a:r>
            <a:endParaRPr lang="en-US" sz="1200"/>
          </a:p>
        </p:txBody>
      </p:sp>
      <p:sp>
        <p:nvSpPr>
          <p:cNvPr id="1039365871" name="Text 16"/>
          <p:cNvSpPr/>
          <p:nvPr/>
        </p:nvSpPr>
        <p:spPr bwMode="auto">
          <a:xfrm>
            <a:off x="6309360" y="17190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Proposals, documents &amp; milestones shared</a:t>
            </a:r>
            <a:endParaRPr lang="en-US" sz="1100"/>
          </a:p>
        </p:txBody>
      </p:sp>
      <p:sp>
        <p:nvSpPr>
          <p:cNvPr id="593815691" name="Shape 17"/>
          <p:cNvSpPr/>
          <p:nvPr/>
        </p:nvSpPr>
        <p:spPr bwMode="auto">
          <a:xfrm>
            <a:off x="320040" y="292608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17020127" name="Shape 18"/>
          <p:cNvSpPr/>
          <p:nvPr/>
        </p:nvSpPr>
        <p:spPr bwMode="auto">
          <a:xfrm>
            <a:off x="320040" y="2926080"/>
            <a:ext cx="269748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9418021" name="Text 19"/>
          <p:cNvSpPr/>
          <p:nvPr/>
        </p:nvSpPr>
        <p:spPr bwMode="auto">
          <a:xfrm>
            <a:off x="429768" y="2990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A896"/>
                </a:solidFill>
              </a:rPr>
              <a:t>04</a:t>
            </a:r>
            <a:endParaRPr lang="en-US" sz="1400"/>
          </a:p>
        </p:txBody>
      </p:sp>
      <p:sp>
        <p:nvSpPr>
          <p:cNvPr id="1458281310" name="Text 20"/>
          <p:cNvSpPr/>
          <p:nvPr/>
        </p:nvSpPr>
        <p:spPr bwMode="auto">
          <a:xfrm>
            <a:off x="886968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Admin Monitors</a:t>
            </a:r>
            <a:endParaRPr lang="en-US" sz="1200"/>
          </a:p>
        </p:txBody>
      </p:sp>
      <p:sp>
        <p:nvSpPr>
          <p:cNvPr id="1282932429" name="Text 21"/>
          <p:cNvSpPr/>
          <p:nvPr/>
        </p:nvSpPr>
        <p:spPr bwMode="auto">
          <a:xfrm>
            <a:off x="457200" y="35478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Flags risks, approves contact &amp; milestones</a:t>
            </a:r>
            <a:endParaRPr lang="en-US" sz="1100"/>
          </a:p>
        </p:txBody>
      </p:sp>
      <p:sp>
        <p:nvSpPr>
          <p:cNvPr id="1753969355" name="Shape 22"/>
          <p:cNvSpPr/>
          <p:nvPr/>
        </p:nvSpPr>
        <p:spPr bwMode="auto">
          <a:xfrm>
            <a:off x="3246120" y="292608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575610425" name="Shape 23"/>
          <p:cNvSpPr/>
          <p:nvPr/>
        </p:nvSpPr>
        <p:spPr bwMode="auto">
          <a:xfrm>
            <a:off x="3246120" y="2926080"/>
            <a:ext cx="269748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51056302" name="Text 24"/>
          <p:cNvSpPr/>
          <p:nvPr/>
        </p:nvSpPr>
        <p:spPr bwMode="auto">
          <a:xfrm>
            <a:off x="3355848" y="2990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A896"/>
                </a:solidFill>
              </a:rPr>
              <a:t>05</a:t>
            </a:r>
            <a:endParaRPr lang="en-US" sz="1400"/>
          </a:p>
        </p:txBody>
      </p:sp>
      <p:sp>
        <p:nvSpPr>
          <p:cNvPr id="783408977" name="Text 25"/>
          <p:cNvSpPr/>
          <p:nvPr/>
        </p:nvSpPr>
        <p:spPr bwMode="auto">
          <a:xfrm>
            <a:off x="3813048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Space Booked</a:t>
            </a:r>
            <a:endParaRPr lang="en-US" sz="1200"/>
          </a:p>
        </p:txBody>
      </p:sp>
      <p:sp>
        <p:nvSpPr>
          <p:cNvPr id="486435319" name="Text 26"/>
          <p:cNvSpPr/>
          <p:nvPr/>
        </p:nvSpPr>
        <p:spPr bwMode="auto">
          <a:xfrm>
            <a:off x="3383280" y="35478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Linked to engagement or standalone booking</a:t>
            </a:r>
            <a:endParaRPr lang="en-US" sz="1100"/>
          </a:p>
        </p:txBody>
      </p:sp>
      <p:sp>
        <p:nvSpPr>
          <p:cNvPr id="1511102938" name="Shape 27"/>
          <p:cNvSpPr/>
          <p:nvPr/>
        </p:nvSpPr>
        <p:spPr bwMode="auto">
          <a:xfrm>
            <a:off x="6172200" y="292608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89273069" name="Shape 28"/>
          <p:cNvSpPr/>
          <p:nvPr/>
        </p:nvSpPr>
        <p:spPr bwMode="auto">
          <a:xfrm>
            <a:off x="6172200" y="2926080"/>
            <a:ext cx="269748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67087579" name="Text 29"/>
          <p:cNvSpPr/>
          <p:nvPr/>
        </p:nvSpPr>
        <p:spPr bwMode="auto">
          <a:xfrm>
            <a:off x="6281928" y="2990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A896"/>
                </a:solidFill>
              </a:rPr>
              <a:t>06</a:t>
            </a:r>
            <a:endParaRPr lang="en-US" sz="1400"/>
          </a:p>
        </p:txBody>
      </p:sp>
      <p:sp>
        <p:nvSpPr>
          <p:cNvPr id="582460948" name="Text 30"/>
          <p:cNvSpPr/>
          <p:nvPr/>
        </p:nvSpPr>
        <p:spPr bwMode="auto">
          <a:xfrm>
            <a:off x="6739128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Auto Reports</a:t>
            </a:r>
            <a:endParaRPr lang="en-US" sz="1200"/>
          </a:p>
        </p:txBody>
      </p:sp>
      <p:sp>
        <p:nvSpPr>
          <p:cNvPr id="396682827" name="Text 31"/>
          <p:cNvSpPr/>
          <p:nvPr/>
        </p:nvSpPr>
        <p:spPr bwMode="auto">
          <a:xfrm>
            <a:off x="6309360" y="35478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Invoices, logs &amp; compliance exports generated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F1F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493029" name="Text 0"/>
          <p:cNvSpPr/>
          <p:nvPr/>
        </p:nvSpPr>
        <p:spPr bwMode="auto"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</a:rPr>
              <a:t>Enterprise-Grade Protection</a:t>
            </a:r>
            <a:endParaRPr lang="en-US" sz="2800"/>
          </a:p>
        </p:txBody>
      </p:sp>
      <p:sp>
        <p:nvSpPr>
          <p:cNvPr id="310924668" name="Text 1"/>
          <p:cNvSpPr/>
          <p:nvPr/>
        </p:nvSpPr>
        <p:spPr bwMode="auto"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0A896"/>
                </a:solidFill>
              </a:rPr>
              <a:t>Security, Compliance &amp; Data Governance</a:t>
            </a:r>
            <a:endParaRPr lang="en-US" sz="1300"/>
          </a:p>
        </p:txBody>
      </p:sp>
      <p:sp>
        <p:nvSpPr>
          <p:cNvPr id="2056014011" name="Shape 2"/>
          <p:cNvSpPr/>
          <p:nvPr/>
        </p:nvSpPr>
        <p:spPr bwMode="auto">
          <a:xfrm>
            <a:off x="457200" y="1234440"/>
            <a:ext cx="8229600" cy="658368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31652523" name="Shape 3"/>
          <p:cNvSpPr/>
          <p:nvPr/>
        </p:nvSpPr>
        <p:spPr bwMode="auto">
          <a:xfrm>
            <a:off x="457200" y="1234440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87184256" name="Text 4"/>
          <p:cNvSpPr/>
          <p:nvPr/>
        </p:nvSpPr>
        <p:spPr bwMode="auto">
          <a:xfrm>
            <a:off x="685800" y="1289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Role-Based Access Control</a:t>
            </a:r>
            <a:endParaRPr lang="en-US" sz="1200"/>
          </a:p>
        </p:txBody>
      </p:sp>
      <p:sp>
        <p:nvSpPr>
          <p:cNvPr id="1273713277" name="Text 5"/>
          <p:cNvSpPr/>
          <p:nvPr/>
        </p:nvSpPr>
        <p:spPr bwMode="auto">
          <a:xfrm>
            <a:off x="685800" y="15727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Enforced at API &amp; database level — users see only what they're authorized for</a:t>
            </a:r>
            <a:endParaRPr lang="en-US" sz="1000"/>
          </a:p>
        </p:txBody>
      </p:sp>
      <p:sp>
        <p:nvSpPr>
          <p:cNvPr id="1612365726" name="Shape 6"/>
          <p:cNvSpPr/>
          <p:nvPr/>
        </p:nvSpPr>
        <p:spPr bwMode="auto">
          <a:xfrm>
            <a:off x="457200" y="1984248"/>
            <a:ext cx="8229600" cy="658368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93486974" name="Shape 7"/>
          <p:cNvSpPr/>
          <p:nvPr/>
        </p:nvSpPr>
        <p:spPr bwMode="auto">
          <a:xfrm>
            <a:off x="457200" y="1984248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2680746" name="Text 8"/>
          <p:cNvSpPr/>
          <p:nvPr/>
        </p:nvSpPr>
        <p:spPr bwMode="auto">
          <a:xfrm>
            <a:off x="68580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Encrypted Data</a:t>
            </a:r>
            <a:endParaRPr lang="en-US" sz="1200"/>
          </a:p>
        </p:txBody>
      </p:sp>
      <p:sp>
        <p:nvSpPr>
          <p:cNvPr id="1022887945" name="Text 9"/>
          <p:cNvSpPr/>
          <p:nvPr/>
        </p:nvSpPr>
        <p:spPr bwMode="auto">
          <a:xfrm>
            <a:off x="685800" y="23225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In transit &amp; at rest via Neon PostgreSQL + Vercel edge infrastructure</a:t>
            </a:r>
            <a:endParaRPr lang="en-US" sz="1000"/>
          </a:p>
        </p:txBody>
      </p:sp>
      <p:sp>
        <p:nvSpPr>
          <p:cNvPr id="62109556" name="Shape 10"/>
          <p:cNvSpPr/>
          <p:nvPr/>
        </p:nvSpPr>
        <p:spPr bwMode="auto">
          <a:xfrm>
            <a:off x="457200" y="2734056"/>
            <a:ext cx="8229600" cy="658368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2359097" name="Shape 11"/>
          <p:cNvSpPr/>
          <p:nvPr/>
        </p:nvSpPr>
        <p:spPr bwMode="auto">
          <a:xfrm>
            <a:off x="457200" y="2734056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85131271" name="Text 12"/>
          <p:cNvSpPr/>
          <p:nvPr/>
        </p:nvSpPr>
        <p:spPr bwMode="auto">
          <a:xfrm>
            <a:off x="6858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Supervised Communications</a:t>
            </a:r>
            <a:endParaRPr lang="en-US" sz="1200"/>
          </a:p>
        </p:txBody>
      </p:sp>
      <p:sp>
        <p:nvSpPr>
          <p:cNvPr id="1172214880" name="Text 13"/>
          <p:cNvSpPr/>
          <p:nvPr/>
        </p:nvSpPr>
        <p:spPr bwMode="auto">
          <a:xfrm>
            <a:off x="685800" y="3072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All client-company messaging requires explicit user consent &amp; admin oversight</a:t>
            </a:r>
            <a:endParaRPr lang="en-US" sz="1000"/>
          </a:p>
        </p:txBody>
      </p:sp>
      <p:sp>
        <p:nvSpPr>
          <p:cNvPr id="332415609" name="Shape 14"/>
          <p:cNvSpPr/>
          <p:nvPr/>
        </p:nvSpPr>
        <p:spPr bwMode="auto">
          <a:xfrm>
            <a:off x="457200" y="3483864"/>
            <a:ext cx="8229600" cy="658368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98934649" name="Shape 15"/>
          <p:cNvSpPr/>
          <p:nvPr/>
        </p:nvSpPr>
        <p:spPr bwMode="auto">
          <a:xfrm>
            <a:off x="457200" y="3483864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71576392" name="Text 16"/>
          <p:cNvSpPr/>
          <p:nvPr/>
        </p:nvSpPr>
        <p:spPr bwMode="auto">
          <a:xfrm>
            <a:off x="68580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GDPR / POPIA Ready</a:t>
            </a:r>
            <a:endParaRPr lang="en-US" sz="1200"/>
          </a:p>
        </p:txBody>
      </p:sp>
      <p:sp>
        <p:nvSpPr>
          <p:cNvPr id="892081713" name="Text 17"/>
          <p:cNvSpPr/>
          <p:nvPr/>
        </p:nvSpPr>
        <p:spPr bwMode="auto">
          <a:xfrm>
            <a:off x="685800" y="38221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Data retention, export &amp; deletion controls built in from day one</a:t>
            </a:r>
            <a:endParaRPr lang="en-US" sz="1000"/>
          </a:p>
        </p:txBody>
      </p:sp>
      <p:sp>
        <p:nvSpPr>
          <p:cNvPr id="403895202" name="Shape 18"/>
          <p:cNvSpPr/>
          <p:nvPr/>
        </p:nvSpPr>
        <p:spPr bwMode="auto">
          <a:xfrm>
            <a:off x="457200" y="4233672"/>
            <a:ext cx="8229600" cy="658368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61630469" name="Shape 19"/>
          <p:cNvSpPr/>
          <p:nvPr/>
        </p:nvSpPr>
        <p:spPr bwMode="auto">
          <a:xfrm>
            <a:off x="457200" y="4233672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99942648" name="Text 20"/>
          <p:cNvSpPr/>
          <p:nvPr/>
        </p:nvSpPr>
        <p:spPr bwMode="auto">
          <a:xfrm>
            <a:off x="68580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Immutable Audit Logs</a:t>
            </a:r>
            <a:endParaRPr lang="en-US" sz="1200"/>
          </a:p>
        </p:txBody>
      </p:sp>
      <p:sp>
        <p:nvSpPr>
          <p:cNvPr id="1001339847" name="Text 21"/>
          <p:cNvSpPr/>
          <p:nvPr/>
        </p:nvSpPr>
        <p:spPr bwMode="auto">
          <a:xfrm>
            <a:off x="685800" y="4572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</a:rPr>
              <a:t>All supervision events logged for compliance, audit &amp; dispute resolution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4F7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156080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</p:spPr>
      </p:sp>
      <p:sp>
        <p:nvSpPr>
          <p:cNvPr id="1801831066" name="Text 1"/>
          <p:cNvSpPr/>
          <p:nvPr/>
        </p:nvSpPr>
        <p:spPr bwMode="auto"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</a:rPr>
              <a:t>Maximizing Platform Value</a:t>
            </a:r>
            <a:endParaRPr lang="en-US" sz="2400"/>
          </a:p>
        </p:txBody>
      </p:sp>
      <p:sp>
        <p:nvSpPr>
          <p:cNvPr id="348729421" name="Shape 2"/>
          <p:cNvSpPr/>
          <p:nvPr/>
        </p:nvSpPr>
        <p:spPr bwMode="auto">
          <a:xfrm>
            <a:off x="320040" y="1051560"/>
            <a:ext cx="26517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139323213" name="Text 3"/>
          <p:cNvSpPr/>
          <p:nvPr/>
        </p:nvSpPr>
        <p:spPr bwMode="auto">
          <a:xfrm>
            <a:off x="320040" y="1078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Admins</a:t>
            </a:r>
            <a:endParaRPr lang="en-US" sz="1400"/>
          </a:p>
        </p:txBody>
      </p:sp>
      <p:sp>
        <p:nvSpPr>
          <p:cNvPr id="1637986385" name="Shape 4"/>
          <p:cNvSpPr/>
          <p:nvPr/>
        </p:nvSpPr>
        <p:spPr bwMode="auto">
          <a:xfrm>
            <a:off x="320040" y="15544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60252836" name="Text 5"/>
          <p:cNvSpPr/>
          <p:nvPr/>
        </p:nvSpPr>
        <p:spPr bwMode="auto">
          <a:xfrm>
            <a:off x="457200" y="1691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Monitor supervision alerts weekly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Run monthly revenue &amp; booking reports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Enforce matching SLAs &amp; pipeline stages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Review &amp; approve company on-boarding</a:t>
            </a:r>
            <a:endParaRPr lang="en-US" sz="1100"/>
          </a:p>
        </p:txBody>
      </p:sp>
      <p:sp>
        <p:nvSpPr>
          <p:cNvPr id="603485970" name="Shape 6"/>
          <p:cNvSpPr/>
          <p:nvPr/>
        </p:nvSpPr>
        <p:spPr bwMode="auto">
          <a:xfrm>
            <a:off x="3154680" y="105156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4841523" name="Text 7"/>
          <p:cNvSpPr/>
          <p:nvPr/>
        </p:nvSpPr>
        <p:spPr bwMode="auto">
          <a:xfrm>
            <a:off x="3154680" y="1078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Companies</a:t>
            </a:r>
            <a:endParaRPr lang="en-US" sz="1400"/>
          </a:p>
        </p:txBody>
      </p:sp>
      <p:sp>
        <p:nvSpPr>
          <p:cNvPr id="898178294" name="Shape 8"/>
          <p:cNvSpPr/>
          <p:nvPr/>
        </p:nvSpPr>
        <p:spPr bwMode="auto">
          <a:xfrm>
            <a:off x="3154680" y="15544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46063754" name="Text 9"/>
          <p:cNvSpPr/>
          <p:nvPr/>
        </p:nvSpPr>
        <p:spPr bwMode="auto">
          <a:xfrm>
            <a:off x="3291840" y="1691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Keep profiles &amp; services updated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Respond to matches within 24h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Use platform comms — avoid bypass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Upload credentials proactively</a:t>
            </a:r>
            <a:endParaRPr lang="en-US" sz="1100"/>
          </a:p>
        </p:txBody>
      </p:sp>
      <p:sp>
        <p:nvSpPr>
          <p:cNvPr id="2023985943" name="Shape 10"/>
          <p:cNvSpPr/>
          <p:nvPr/>
        </p:nvSpPr>
        <p:spPr bwMode="auto">
          <a:xfrm>
            <a:off x="5989320" y="1051560"/>
            <a:ext cx="26517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41631915" name="Text 11"/>
          <p:cNvSpPr/>
          <p:nvPr/>
        </p:nvSpPr>
        <p:spPr bwMode="auto">
          <a:xfrm>
            <a:off x="5989320" y="1078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Clients</a:t>
            </a:r>
            <a:endParaRPr lang="en-US" sz="1400"/>
          </a:p>
        </p:txBody>
      </p:sp>
      <p:sp>
        <p:nvSpPr>
          <p:cNvPr id="129313419" name="Shape 12"/>
          <p:cNvSpPr/>
          <p:nvPr/>
        </p:nvSpPr>
        <p:spPr bwMode="auto">
          <a:xfrm>
            <a:off x="5989320" y="15544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19603432" name="Text 13"/>
          <p:cNvSpPr/>
          <p:nvPr/>
        </p:nvSpPr>
        <p:spPr bwMode="auto">
          <a:xfrm>
            <a:off x="6126480" y="1691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Complete needs assessment thoroughly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Track engagement milestones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Book spaces via integrated flow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Provide feedback after engagements</a:t>
            </a:r>
            <a:endParaRPr lang="en-US" sz="1100"/>
          </a:p>
        </p:txBody>
      </p:sp>
      <p:sp>
        <p:nvSpPr>
          <p:cNvPr id="34016486" name="Shape 14"/>
          <p:cNvSpPr/>
          <p:nvPr/>
        </p:nvSpPr>
        <p:spPr bwMode="auto">
          <a:xfrm>
            <a:off x="320040" y="3977640"/>
            <a:ext cx="26517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94529925" name="Text 15"/>
          <p:cNvSpPr/>
          <p:nvPr/>
        </p:nvSpPr>
        <p:spPr bwMode="auto">
          <a:xfrm>
            <a:off x="320040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2C39A"/>
                </a:solidFill>
              </a:rPr>
              <a:t>60%+</a:t>
            </a:r>
            <a:endParaRPr lang="en-US" sz="2400"/>
          </a:p>
        </p:txBody>
      </p:sp>
      <p:sp>
        <p:nvSpPr>
          <p:cNvPr id="1019495165" name="Text 16"/>
          <p:cNvSpPr/>
          <p:nvPr/>
        </p:nvSpPr>
        <p:spPr bwMode="auto">
          <a:xfrm>
            <a:off x="320040" y="4434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BD5E1"/>
                </a:solidFill>
              </a:rPr>
              <a:t>Booking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CBD5E1"/>
                </a:solidFill>
              </a:rPr>
              <a:t>Utilization</a:t>
            </a:r>
            <a:endParaRPr lang="en-US" sz="900"/>
          </a:p>
        </p:txBody>
      </p:sp>
      <p:sp>
        <p:nvSpPr>
          <p:cNvPr id="1081766128" name="Shape 17"/>
          <p:cNvSpPr/>
          <p:nvPr/>
        </p:nvSpPr>
        <p:spPr bwMode="auto">
          <a:xfrm>
            <a:off x="3154680" y="3977640"/>
            <a:ext cx="26517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5730685" name="Text 18"/>
          <p:cNvSpPr/>
          <p:nvPr/>
        </p:nvSpPr>
        <p:spPr bwMode="auto">
          <a:xfrm>
            <a:off x="3154680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2C39A"/>
                </a:solidFill>
              </a:rPr>
              <a:t>40%+</a:t>
            </a:r>
            <a:endParaRPr lang="en-US" sz="2400"/>
          </a:p>
        </p:txBody>
      </p:sp>
      <p:sp>
        <p:nvSpPr>
          <p:cNvPr id="2142087631" name="Text 19"/>
          <p:cNvSpPr/>
          <p:nvPr/>
        </p:nvSpPr>
        <p:spPr bwMode="auto">
          <a:xfrm>
            <a:off x="3154680" y="4434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BD5E1"/>
                </a:solidFill>
              </a:rPr>
              <a:t>Match-to-Active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CBD5E1"/>
                </a:solidFill>
              </a:rPr>
              <a:t>Conversion</a:t>
            </a:r>
            <a:endParaRPr lang="en-US" sz="900"/>
          </a:p>
        </p:txBody>
      </p:sp>
      <p:sp>
        <p:nvSpPr>
          <p:cNvPr id="44137808" name="Shape 20"/>
          <p:cNvSpPr/>
          <p:nvPr/>
        </p:nvSpPr>
        <p:spPr bwMode="auto">
          <a:xfrm>
            <a:off x="5989320" y="3977640"/>
            <a:ext cx="26517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38459085" name="Text 21"/>
          <p:cNvSpPr/>
          <p:nvPr/>
        </p:nvSpPr>
        <p:spPr bwMode="auto">
          <a:xfrm>
            <a:off x="5989320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2C39A"/>
                </a:solidFill>
              </a:rPr>
              <a:t>80%+</a:t>
            </a:r>
            <a:endParaRPr lang="en-US" sz="2400"/>
          </a:p>
        </p:txBody>
      </p:sp>
      <p:sp>
        <p:nvSpPr>
          <p:cNvPr id="1078480307" name="Text 22"/>
          <p:cNvSpPr/>
          <p:nvPr/>
        </p:nvSpPr>
        <p:spPr bwMode="auto">
          <a:xfrm>
            <a:off x="5989320" y="4434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BD5E1"/>
                </a:solidFill>
              </a:rPr>
              <a:t>Admin Time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CBD5E1"/>
                </a:solidFill>
              </a:rPr>
              <a:t>Saved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4F7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721342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47778816" name="Text 1"/>
          <p:cNvSpPr/>
          <p:nvPr/>
        </p:nvSpPr>
        <p:spPr bwMode="auto"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</a:rPr>
              <a:t>Where We Are &amp; What's Next</a:t>
            </a:r>
            <a:endParaRPr lang="en-US" sz="2400"/>
          </a:p>
        </p:txBody>
      </p:sp>
      <p:sp>
        <p:nvSpPr>
          <p:cNvPr id="1261285434" name="Shape 2"/>
          <p:cNvSpPr/>
          <p:nvPr/>
        </p:nvSpPr>
        <p:spPr bwMode="auto">
          <a:xfrm>
            <a:off x="365760" y="1051560"/>
            <a:ext cx="4114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61920097" name="Shape 3"/>
          <p:cNvSpPr/>
          <p:nvPr/>
        </p:nvSpPr>
        <p:spPr bwMode="auto">
          <a:xfrm>
            <a:off x="365760" y="1051560"/>
            <a:ext cx="4114800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672573618" name="Text 4"/>
          <p:cNvSpPr/>
          <p:nvPr/>
        </p:nvSpPr>
        <p:spPr bwMode="auto">
          <a:xfrm>
            <a:off x="50292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✅  Completed</a:t>
            </a:r>
            <a:endParaRPr lang="en-US" sz="1200"/>
          </a:p>
        </p:txBody>
      </p:sp>
      <p:sp>
        <p:nvSpPr>
          <p:cNvPr id="345481762" name="Text 5"/>
          <p:cNvSpPr/>
          <p:nvPr/>
        </p:nvSpPr>
        <p:spPr bwMode="auto">
          <a:xfrm>
            <a:off x="548640" y="157276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Core architecture, auth, DB schema &amp; all 4 modules deployed</a:t>
            </a:r>
            <a:endParaRPr lang="en-US" sz="110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Supervised messaging, audit logs &amp; keyword escalation live</a:t>
            </a:r>
            <a:endParaRPr lang="en-US" sz="110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Vercel production environment with Neon PostgreSQL active</a:t>
            </a:r>
            <a:endParaRPr lang="en-US" sz="110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</a:rPr>
              <a:t>Role-based access for Admin, Company Rep &amp; Client users</a:t>
            </a:r>
            <a:endParaRPr lang="en-US" sz="1100"/>
          </a:p>
        </p:txBody>
      </p:sp>
      <p:sp>
        <p:nvSpPr>
          <p:cNvPr id="1319110502" name="Shape 6"/>
          <p:cNvSpPr/>
          <p:nvPr/>
        </p:nvSpPr>
        <p:spPr bwMode="auto">
          <a:xfrm>
            <a:off x="4663440" y="1051560"/>
            <a:ext cx="4114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10978000" name="Shape 7"/>
          <p:cNvSpPr/>
          <p:nvPr/>
        </p:nvSpPr>
        <p:spPr bwMode="auto">
          <a:xfrm>
            <a:off x="4663440" y="1051560"/>
            <a:ext cx="411480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66354527" name="Text 8"/>
          <p:cNvSpPr/>
          <p:nvPr/>
        </p:nvSpPr>
        <p:spPr bwMode="auto">
          <a:xfrm>
            <a:off x="480060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🚀  Roadmap</a:t>
            </a:r>
            <a:endParaRPr lang="en-US" sz="1200"/>
          </a:p>
        </p:txBody>
      </p:sp>
      <p:sp>
        <p:nvSpPr>
          <p:cNvPr id="1497863765" name="Shape 9"/>
          <p:cNvSpPr/>
          <p:nvPr/>
        </p:nvSpPr>
        <p:spPr bwMode="auto">
          <a:xfrm>
            <a:off x="4800600" y="1572768"/>
            <a:ext cx="502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5766900" name="Text 10"/>
          <p:cNvSpPr/>
          <p:nvPr/>
        </p:nvSpPr>
        <p:spPr bwMode="auto">
          <a:xfrm>
            <a:off x="4800600" y="1572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</a:rPr>
              <a:t>Now</a:t>
            </a:r>
            <a:endParaRPr lang="en-US" sz="900"/>
          </a:p>
        </p:txBody>
      </p:sp>
      <p:sp>
        <p:nvSpPr>
          <p:cNvPr id="592785490" name="Text 11"/>
          <p:cNvSpPr/>
          <p:nvPr/>
        </p:nvSpPr>
        <p:spPr bwMode="auto">
          <a:xfrm>
            <a:off x="5394960" y="1609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UAT pilot — 5 companies, 20 clients</a:t>
            </a:r>
            <a:endParaRPr lang="en-US" sz="1100"/>
          </a:p>
        </p:txBody>
      </p:sp>
      <p:sp>
        <p:nvSpPr>
          <p:cNvPr id="2049699857" name="Shape 12"/>
          <p:cNvSpPr/>
          <p:nvPr/>
        </p:nvSpPr>
        <p:spPr bwMode="auto">
          <a:xfrm>
            <a:off x="4800600" y="2121408"/>
            <a:ext cx="5029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53727650" name="Text 13"/>
          <p:cNvSpPr/>
          <p:nvPr/>
        </p:nvSpPr>
        <p:spPr bwMode="auto">
          <a:xfrm>
            <a:off x="4800600" y="21214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</a:rPr>
              <a:t>Q2</a:t>
            </a:r>
            <a:endParaRPr lang="en-US" sz="900"/>
          </a:p>
        </p:txBody>
      </p:sp>
      <p:sp>
        <p:nvSpPr>
          <p:cNvPr id="267582826" name="Text 14"/>
          <p:cNvSpPr/>
          <p:nvPr/>
        </p:nvSpPr>
        <p:spPr bwMode="auto">
          <a:xfrm>
            <a:off x="5394960" y="21579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Performance tuning &amp; mobile optimization</a:t>
            </a:r>
            <a:endParaRPr lang="en-US" sz="1100"/>
          </a:p>
        </p:txBody>
      </p:sp>
      <p:sp>
        <p:nvSpPr>
          <p:cNvPr id="393397333" name="Shape 15"/>
          <p:cNvSpPr/>
          <p:nvPr/>
        </p:nvSpPr>
        <p:spPr bwMode="auto">
          <a:xfrm>
            <a:off x="4800600" y="2670048"/>
            <a:ext cx="5029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52741483" name="Text 16"/>
          <p:cNvSpPr/>
          <p:nvPr/>
        </p:nvSpPr>
        <p:spPr bwMode="auto">
          <a:xfrm>
            <a:off x="4800600" y="26700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</a:rPr>
              <a:t>Q3</a:t>
            </a:r>
            <a:endParaRPr lang="en-US" sz="900"/>
          </a:p>
        </p:txBody>
      </p:sp>
      <p:sp>
        <p:nvSpPr>
          <p:cNvPr id="1362055321" name="Text 17"/>
          <p:cNvSpPr/>
          <p:nvPr/>
        </p:nvSpPr>
        <p:spPr bwMode="auto">
          <a:xfrm>
            <a:off x="5394960" y="2706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Payment gateway integration</a:t>
            </a:r>
            <a:endParaRPr lang="en-US" sz="1100"/>
          </a:p>
        </p:txBody>
      </p:sp>
      <p:sp>
        <p:nvSpPr>
          <p:cNvPr id="1481777151" name="Shape 18"/>
          <p:cNvSpPr/>
          <p:nvPr/>
        </p:nvSpPr>
        <p:spPr bwMode="auto">
          <a:xfrm>
            <a:off x="4800600" y="3218688"/>
            <a:ext cx="502920" cy="347472"/>
          </a:xfrm>
          <a:prstGeom prst="rect">
            <a:avLst/>
          </a:prstGeom>
          <a:solidFill>
            <a:srgbClr val="1A3158"/>
          </a:solidFill>
          <a:ln w="12700">
            <a:solidFill>
              <a:srgbClr val="1A3158"/>
            </a:solidFill>
            <a:prstDash val="solid"/>
          </a:ln>
        </p:spPr>
      </p:sp>
      <p:sp>
        <p:nvSpPr>
          <p:cNvPr id="14897070" name="Text 19"/>
          <p:cNvSpPr/>
          <p:nvPr/>
        </p:nvSpPr>
        <p:spPr bwMode="auto">
          <a:xfrm>
            <a:off x="4800600" y="32186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</a:rPr>
              <a:t>Q3</a:t>
            </a:r>
            <a:endParaRPr lang="en-US" sz="900"/>
          </a:p>
        </p:txBody>
      </p:sp>
      <p:sp>
        <p:nvSpPr>
          <p:cNvPr id="1782911113" name="Text 20"/>
          <p:cNvSpPr/>
          <p:nvPr/>
        </p:nvSpPr>
        <p:spPr bwMode="auto">
          <a:xfrm>
            <a:off x="5394960" y="32552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</a:rPr>
              <a:t>Advanced analytics &amp; AI matching suggestions</a:t>
            </a:r>
            <a:endParaRPr lang="en-US" sz="1100"/>
          </a:p>
        </p:txBody>
      </p:sp>
      <p:sp>
        <p:nvSpPr>
          <p:cNvPr id="1096460491" name="Shape 21"/>
          <p:cNvSpPr/>
          <p:nvPr/>
        </p:nvSpPr>
        <p:spPr bwMode="auto">
          <a:xfrm>
            <a:off x="365760" y="3794760"/>
            <a:ext cx="841248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4823485" name="Shape 22"/>
          <p:cNvSpPr/>
          <p:nvPr/>
        </p:nvSpPr>
        <p:spPr bwMode="auto">
          <a:xfrm>
            <a:off x="365760" y="3794760"/>
            <a:ext cx="5888736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34639688" name="Text 23"/>
          <p:cNvSpPr/>
          <p:nvPr/>
        </p:nvSpPr>
        <p:spPr bwMode="auto">
          <a:xfrm>
            <a:off x="365760" y="3950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</a:rPr>
              <a:t>Platform Completion: ~70%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F1F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38394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70115349" name="Shape 1"/>
          <p:cNvSpPr/>
          <p:nvPr/>
        </p:nvSpPr>
        <p:spPr bwMode="auto"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99067510" name="Text 2"/>
          <p:cNvSpPr/>
          <p:nvPr/>
        </p:nvSpPr>
        <p:spPr bwMode="auto"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FFFFFF"/>
                </a:solidFill>
              </a:rPr>
              <a:t>Thank You</a:t>
            </a:r>
            <a:endParaRPr lang="en-US" sz="5200"/>
          </a:p>
        </p:txBody>
      </p:sp>
      <p:sp>
        <p:nvSpPr>
          <p:cNvPr id="886545489" name="Text 3"/>
          <p:cNvSpPr/>
          <p:nvPr/>
        </p:nvSpPr>
        <p:spPr bwMode="auto"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CBD5E1"/>
                </a:solidFill>
              </a:rPr>
              <a:t>Built for scale, transparency &amp; operational excellence</a:t>
            </a:r>
            <a:endParaRPr lang="en-US" sz="1600"/>
          </a:p>
        </p:txBody>
      </p:sp>
      <p:sp>
        <p:nvSpPr>
          <p:cNvPr id="444690862" name="Text 4"/>
          <p:cNvSpPr/>
          <p:nvPr/>
        </p:nvSpPr>
        <p:spPr bwMode="auto">
          <a:xfrm>
            <a:off x="2286000" y="2331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</a:rPr>
              <a:t>Platform fully deployed &amp; operational</a:t>
            </a:r>
            <a:endParaRPr lang="en-US" sz="1300"/>
          </a:p>
          <a:p>
            <a:pPr marL="342900" indent="-342900" algn="ctr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</a:rPr>
              <a:t>Ready for UAT pilot &amp; board sign-off</a:t>
            </a:r>
            <a:endParaRPr lang="en-US" sz="1300"/>
          </a:p>
          <a:p>
            <a:pPr marL="342900" indent="-342900" algn="ctr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</a:rPr>
              <a:t>Live demo environment available on </a:t>
            </a:r>
            <a:br>
              <a:rPr lang="en-US" sz="1300">
                <a:solidFill>
                  <a:srgbClr val="FFFFFF"/>
                </a:solidFill>
              </a:rPr>
            </a:br>
            <a:r>
              <a:rPr lang="en-US" sz="1300">
                <a:solidFill>
                  <a:srgbClr val="FFFFFF"/>
                </a:solidFill>
              </a:rPr>
              <a:t>https://sndbx-platform.vercel.app </a:t>
            </a:r>
            <a:endParaRPr lang="en-US" sz="1300"/>
          </a:p>
        </p:txBody>
      </p:sp>
      <p:sp>
        <p:nvSpPr>
          <p:cNvPr id="702643691" name="Text 5"/>
          <p:cNvSpPr/>
          <p:nvPr/>
        </p:nvSpPr>
        <p:spPr bwMode="auto"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sndbx-platform.vercel.app</a:t>
            </a:r>
            <a:endParaRPr lang="en-US" sz="1400"/>
          </a:p>
        </p:txBody>
      </p:sp>
      <p:sp>
        <p:nvSpPr>
          <p:cNvPr id="1012243377" name="Text 6"/>
          <p:cNvSpPr/>
          <p:nvPr/>
        </p:nvSpPr>
        <p:spPr bwMode="auto">
          <a:xfrm>
            <a:off x="457200" y="416051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SNDBX Platform  ·  Board Review  ·  April 2026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Hub Operations Platform</dc:title>
  <dc:subject>PptxGenJS Presentation</dc:subject>
  <dc:creator>PptxGenJS</dc:creator>
  <cp:lastModifiedBy/>
  <cp:revision>2</cp:revision>
  <dcterms:created xsi:type="dcterms:W3CDTF">2026-04-21T04:49:22Z</dcterms:created>
  <dcterms:modified xsi:type="dcterms:W3CDTF">2026-04-21T05:48:22Z</dcterms:modified>
</cp:coreProperties>
</file>